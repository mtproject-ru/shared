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60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499976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784738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541796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28692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52216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8857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768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2737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10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590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725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398CC0-1249-A790-4F14-10140BAF5C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24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807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207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00B578-4208-1330-551D-19AB87DAE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51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634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150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91F8F5-E690-5CEC-5C90-476C43AE34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325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59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695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4A2D-3509-AA69-C45A-E57336419C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133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56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028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825C29-94C2-1C2D-250D-9E4810627F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34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467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*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Docker — это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платформа для разработки, доставки и запуска приложений в изолированных средах — контейнерах. Она упаковывает код со всеми зависимостями (библиотеками, настройками), гарантируя одинаковую работу ПО на любой машине, что ускоряет разработку и упрощает перено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</a:t>
            </a:r>
            <a:endParaRPr/>
          </a:p>
        </p:txBody>
      </p:sp>
      <p:sp>
        <p:nvSpPr>
          <p:cNvPr id="11706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23E7F-07B2-2179-117E-4F5DD111F6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018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205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295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16F16F-89BF-D656-99DC-5A00BFB535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87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263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826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65167F-E198-3C9E-F664-73B544D5A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20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389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058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A810BC-D029-4E19-00B3-1EE50D716A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71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400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*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Dependency Injection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(DI, внедрение зависимостей) — это паттерн проектирования, при котором объект получает требуемые ему зависимости извне, а не создает их самостоятельно внутри. Это обеспечивает слабую связанность компонентов, улучшает тестируемость и облегчает поддержку кода, следуя принципу инверсии управления (IoC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  <p:sp>
        <p:nvSpPr>
          <p:cNvPr id="219200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FDD7D0-62B3-D3BC-36E5-3318B428FF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929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0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573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AA62CC-CDBA-0CDC-6788-855FC6BE0F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845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882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8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CEE986-4D5E-F09F-6B37-FDC1418B42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943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89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377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7FFA50-5486-3CA6-AA15-B0A98C0238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651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9100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41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B9A463-086B-BAE0-BBB8-F10DCFD9F2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2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531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778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40E3A7-589C-737C-AD59-2D3C443B2B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97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311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303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6A04B-1412-4733-2E6E-1A8F4C7860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775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137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939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E47946-F2F0-5930-9717-56F7831C30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189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480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214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A08785-CEAA-DBCA-0345-15441420DA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560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19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802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008C14-1BC7-7DD3-2698-ED7E191195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365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02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301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81EB0-E226-FACF-ADE0-FB2CB822E4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243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359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414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DF4BB3-FD55-A98A-FAC0-D0F5388C04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159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2601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504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A1402-097F-2ECC-1F40-A967DD895E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531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657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382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00CEC4-C026-D9FE-9B72-FA34A133E7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096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3963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776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E9DC9C-7FCA-E7C4-A20E-D7B5745E0E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190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495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597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9ADB6-C8AB-EEE9-40E9-C33C7682E8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2097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342340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878539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2512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50250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67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98800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52230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0042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741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57101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12124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01562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19652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2478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640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28440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19978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93270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3899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21052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09031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712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83785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54209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26345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28811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586087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42842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54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708862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63886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28694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64602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280712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408670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12442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66673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8343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1904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6436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157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93730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920227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705082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98448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93802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73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8575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3917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97373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22141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0388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9668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290072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97486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133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7041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5949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40462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6731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226101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66297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pkg.go.dev/log/slog" TargetMode="External"/><Relationship Id="rId5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github.com/go-playground/validator" TargetMode="External"/><Relationship Id="rId4" Type="http://schemas.openxmlformats.org/officeDocument/2006/relationships/image" Target="../media/image2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pressly/goose" TargetMode="External"/><Relationship Id="rId4" Type="http://schemas.openxmlformats.org/officeDocument/2006/relationships/hyperlink" Target="https://pkg.go.dev/log/slog" TargetMode="External"/><Relationship Id="rId5" Type="http://schemas.openxmlformats.org/officeDocument/2006/relationships/hyperlink" Target="https://github.com/jackc/pgx" TargetMode="External"/><Relationship Id="rId6" Type="http://schemas.openxmlformats.org/officeDocument/2006/relationships/hyperlink" Target="https://github.com/jmoiron/sqlx" TargetMode="External"/><Relationship Id="rId7" Type="http://schemas.openxmlformats.org/officeDocument/2006/relationships/hyperlink" Target="https://habr.com/ru/companies/ruvds/articles/450312/" TargetMode="External"/><Relationship Id="rId8" Type="http://schemas.openxmlformats.org/officeDocument/2006/relationships/hyperlink" Target="https://dev.to/prodevopsguytech/writing-a-dockerfile-beginners-to-advanced-31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852231" name=""/>
          <p:cNvSpPr txBox="1"/>
          <p:nvPr/>
        </p:nvSpPr>
        <p:spPr bwMode="auto">
          <a:xfrm rot="0" flipH="0" flipV="0">
            <a:off x="5446343" y="1880576"/>
            <a:ext cx="1332568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mtproject</a:t>
            </a:r>
            <a:endParaRPr sz="2200"/>
          </a:p>
        </p:txBody>
      </p:sp>
      <p:sp>
        <p:nvSpPr>
          <p:cNvPr id="1663257541" name=""/>
          <p:cNvSpPr txBox="1"/>
          <p:nvPr/>
        </p:nvSpPr>
        <p:spPr bwMode="auto">
          <a:xfrm rot="0" flipH="0" flipV="0">
            <a:off x="2469275" y="2307656"/>
            <a:ext cx="7286704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>
                <a:latin typeface="Adwaita Sans"/>
                <a:ea typeface="Adwaita Sans"/>
                <a:cs typeface="Adwaita Sans"/>
              </a:rPr>
              <a:t>maybetomorrow</a:t>
            </a:r>
            <a:endParaRPr sz="7200">
              <a:latin typeface="Adwaita Sans"/>
              <a:cs typeface="Adwaita Sans"/>
            </a:endParaRPr>
          </a:p>
        </p:txBody>
      </p:sp>
      <p:sp>
        <p:nvSpPr>
          <p:cNvPr id="2034646603" name=""/>
          <p:cNvSpPr txBox="1"/>
          <p:nvPr/>
        </p:nvSpPr>
        <p:spPr bwMode="auto">
          <a:xfrm rot="0" flipH="0" flipV="0">
            <a:off x="3182656" y="3496734"/>
            <a:ext cx="560388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Встреча 1. Результаты прошлого и </a:t>
            </a:r>
            <a:r>
              <a:rPr lang="ru-RU"/>
              <a:t>новое будущее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550784" name=""/>
          <p:cNvSpPr txBox="1"/>
          <p:nvPr/>
        </p:nvSpPr>
        <p:spPr bwMode="auto">
          <a:xfrm rot="0" flipH="0" flipV="0">
            <a:off x="328432" y="230969"/>
            <a:ext cx="138173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i="1"/>
              <a:t>Рефлексия</a:t>
            </a:r>
            <a:endParaRPr i="1"/>
          </a:p>
        </p:txBody>
      </p:sp>
      <p:cxnSp>
        <p:nvCxnSpPr>
          <p:cNvPr id="633590402" name=""/>
          <p:cNvCxnSpPr/>
          <p:nvPr/>
        </p:nvCxnSpPr>
        <p:spPr bwMode="auto">
          <a:xfrm flipH="0" flipV="0">
            <a:off x="-69626" y="597089"/>
            <a:ext cx="12311417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591542" name=""/>
          <p:cNvSpPr txBox="1"/>
          <p:nvPr/>
        </p:nvSpPr>
        <p:spPr bwMode="auto">
          <a:xfrm rot="0" flipH="0" flipV="0">
            <a:off x="470596" y="796119"/>
            <a:ext cx="10817886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Вам необходимо пройти небольшой опрос.</a:t>
            </a:r>
            <a:endParaRPr lang="ru-RU"/>
          </a:p>
          <a:p>
            <a:pPr>
              <a:defRPr/>
            </a:pPr>
            <a:r>
              <a:rPr lang="ru-RU"/>
              <a:t>Мне важно понять реальную ситуацию, чтобы никого не напрягать лишними задачами и правильно</a:t>
            </a:r>
            <a:endParaRPr lang="ru-RU"/>
          </a:p>
          <a:p>
            <a:pPr>
              <a:defRPr/>
            </a:pPr>
            <a:r>
              <a:rPr lang="ru-RU"/>
              <a:t>распределить нагрузку</a:t>
            </a:r>
            <a:r>
              <a:rPr lang="ru-RU"/>
              <a:t>. Прошу отвечать честно!</a:t>
            </a:r>
            <a:endParaRPr/>
          </a:p>
        </p:txBody>
      </p:sp>
      <p:pic>
        <p:nvPicPr>
          <p:cNvPr id="11281492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7413" y="1762124"/>
            <a:ext cx="3524249" cy="3524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416155" name=""/>
          <p:cNvSpPr txBox="1"/>
          <p:nvPr/>
        </p:nvSpPr>
        <p:spPr bwMode="auto">
          <a:xfrm rot="0" flipH="0" flipV="0">
            <a:off x="328431" y="230968"/>
            <a:ext cx="131308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Проблемы</a:t>
            </a:r>
            <a:endParaRPr b="0" i="1"/>
          </a:p>
        </p:txBody>
      </p:sp>
      <p:cxnSp>
        <p:nvCxnSpPr>
          <p:cNvPr id="573304690" name=""/>
          <p:cNvCxnSpPr/>
          <p:nvPr/>
        </p:nvCxnSpPr>
        <p:spPr bwMode="auto">
          <a:xfrm flipH="0" flipV="0">
            <a:off x="-69625" y="597088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2967756" name=""/>
          <p:cNvSpPr txBox="1"/>
          <p:nvPr/>
        </p:nvSpPr>
        <p:spPr bwMode="auto">
          <a:xfrm rot="0" flipH="0" flipV="0">
            <a:off x="328430" y="1110632"/>
            <a:ext cx="5259863" cy="6709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AutoNum type="arabicPeriod"/>
              <a:defRPr/>
            </a:pPr>
            <a:r>
              <a:rPr lang="ru-RU" sz="2000" b="1"/>
              <a:t>Отсутствие асинхронности</a:t>
            </a:r>
            <a:endParaRPr lang="ru-RU" sz="2000" b="1"/>
          </a:p>
          <a:p>
            <a:pPr>
              <a:defRPr/>
            </a:pPr>
            <a:r>
              <a:rPr lang="ru-RU" sz="1800" b="0"/>
              <a:t>Один компонент ждет, пока будет готов другой. </a:t>
            </a:r>
            <a:endParaRPr sz="1800" b="0"/>
          </a:p>
        </p:txBody>
      </p:sp>
      <p:sp>
        <p:nvSpPr>
          <p:cNvPr id="500878177" name=""/>
          <p:cNvSpPr txBox="1"/>
          <p:nvPr/>
        </p:nvSpPr>
        <p:spPr bwMode="auto">
          <a:xfrm rot="0" flipH="0" flipV="0">
            <a:off x="328431" y="1977009"/>
            <a:ext cx="10916789" cy="9452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2. Отсутствие четких технических требований</a:t>
            </a:r>
            <a:endParaRPr lang="ru-RU" sz="2000" b="1"/>
          </a:p>
          <a:p>
            <a:pPr>
              <a:defRPr/>
            </a:pPr>
            <a:r>
              <a:rPr lang="ru-RU" sz="1800" b="0"/>
              <a:t>Указано название задачи, но нет конкретного пояснения.</a:t>
            </a:r>
            <a:endParaRPr lang="ru-RU" sz="1800" b="0"/>
          </a:p>
          <a:p>
            <a:pPr>
              <a:defRPr/>
            </a:pPr>
            <a:r>
              <a:rPr lang="ru-RU" sz="1800" b="0"/>
              <a:t>Да, мы его обсуждаем на встречах, но через минуту уже забываем, а нигде записано этого не было.</a:t>
            </a:r>
            <a:endParaRPr sz="1800" b="0"/>
          </a:p>
        </p:txBody>
      </p:sp>
      <p:sp>
        <p:nvSpPr>
          <p:cNvPr id="2074150937" name=""/>
          <p:cNvSpPr txBox="1"/>
          <p:nvPr/>
        </p:nvSpPr>
        <p:spPr bwMode="auto">
          <a:xfrm rot="0" flipH="0" flipV="0">
            <a:off x="328431" y="3093539"/>
            <a:ext cx="8196601" cy="6709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3. Отсутствие документации</a:t>
            </a:r>
            <a:endParaRPr lang="ru-RU" sz="2000" b="1"/>
          </a:p>
          <a:p>
            <a:pPr>
              <a:defRPr/>
            </a:pPr>
            <a:r>
              <a:rPr lang="ru-RU" sz="1800" b="0"/>
              <a:t>Чтобы понять, как работает та или иная фича, необходимо залазить в код.</a:t>
            </a:r>
            <a:endParaRPr sz="1800" b="0"/>
          </a:p>
        </p:txBody>
      </p:sp>
      <p:sp>
        <p:nvSpPr>
          <p:cNvPr id="539952032" name=""/>
          <p:cNvSpPr txBox="1"/>
          <p:nvPr/>
        </p:nvSpPr>
        <p:spPr bwMode="auto">
          <a:xfrm rot="0" flipH="0" flipV="0">
            <a:off x="328431" y="4014546"/>
            <a:ext cx="6991322" cy="1219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4. Неудобство развертывания приложения</a:t>
            </a:r>
            <a:endParaRPr sz="2000" b="1"/>
          </a:p>
          <a:p>
            <a:pPr>
              <a:defRPr/>
            </a:pPr>
            <a:r>
              <a:rPr lang="ru-RU"/>
              <a:t>Если у кого-то нет постгреса, то ему приходится скачивать. </a:t>
            </a:r>
            <a:endParaRPr lang="ru-RU"/>
          </a:p>
          <a:p>
            <a:pPr>
              <a:defRPr/>
            </a:pPr>
            <a:r>
              <a:rPr lang="ru-RU"/>
              <a:t>Если у кого-то разная версия го, то ему приходится скачивать.</a:t>
            </a:r>
            <a:endParaRPr lang="ru-RU"/>
          </a:p>
          <a:p>
            <a:pPr>
              <a:defRPr/>
            </a:pPr>
            <a:r>
              <a:rPr lang="ru-RU"/>
              <a:t>Если мы добавим новый компонент, то его придется скачивать.</a:t>
            </a:r>
            <a:endParaRPr/>
          </a:p>
        </p:txBody>
      </p:sp>
      <p:sp>
        <p:nvSpPr>
          <p:cNvPr id="1855745586" name=""/>
          <p:cNvSpPr txBox="1"/>
          <p:nvPr/>
        </p:nvSpPr>
        <p:spPr bwMode="auto">
          <a:xfrm rot="0" flipH="0" flipV="0">
            <a:off x="328431" y="5433136"/>
            <a:ext cx="7291255" cy="6709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5. Отсутствие единой архитектуры</a:t>
            </a:r>
            <a:endParaRPr sz="2000" b="1"/>
          </a:p>
          <a:p>
            <a:pPr>
              <a:defRPr/>
            </a:pPr>
            <a:r>
              <a:rPr lang="ru-RU"/>
              <a:t>Один запрос возвращает строку, другой </a:t>
            </a:r>
            <a:r>
              <a:rPr lang="en-US"/>
              <a:t>bool</a:t>
            </a:r>
            <a:r>
              <a:rPr lang="ru-RU"/>
              <a:t>, третий </a:t>
            </a:r>
            <a:r>
              <a:rPr lang="en-US"/>
              <a:t>JSON</a:t>
            </a:r>
            <a:r>
              <a:rPr lang="ru-RU"/>
              <a:t>-объект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001672" name=""/>
          <p:cNvSpPr txBox="1"/>
          <p:nvPr/>
        </p:nvSpPr>
        <p:spPr bwMode="auto">
          <a:xfrm rot="0" flipH="0" flipV="0">
            <a:off x="328431" y="230968"/>
            <a:ext cx="136521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Изменения</a:t>
            </a:r>
            <a:endParaRPr b="0" i="1"/>
          </a:p>
        </p:txBody>
      </p:sp>
      <p:cxnSp>
        <p:nvCxnSpPr>
          <p:cNvPr id="2080784833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1882274" name=""/>
          <p:cNvSpPr txBox="1"/>
          <p:nvPr/>
        </p:nvSpPr>
        <p:spPr bwMode="auto">
          <a:xfrm rot="0" flipH="0" flipV="0">
            <a:off x="442161" y="824549"/>
            <a:ext cx="11020381" cy="9452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r>
              <a:rPr lang="ru-RU" sz="2000" b="1"/>
              <a:t>Новая работа</a:t>
            </a:r>
            <a:endParaRPr lang="ru-RU" sz="2000" b="1"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 переписываем, а рефакторим итеративно: начинаем с новой структурой,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старый код подтягиваем 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постепенно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3256552" name=""/>
          <p:cNvSpPr txBox="1"/>
          <p:nvPr/>
        </p:nvSpPr>
        <p:spPr bwMode="auto">
          <a:xfrm rot="0" flipH="0" flipV="0">
            <a:off x="442163" y="1971268"/>
            <a:ext cx="10757606" cy="9452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2. Разобьем проект на две (?) части</a:t>
            </a:r>
            <a:endParaRPr lang="ru-RU" sz="2000" b="1"/>
          </a:p>
          <a:p>
            <a:pPr>
              <a:defRPr/>
            </a:pPr>
            <a:r>
              <a:rPr lang="ru-RU" sz="1800" b="0"/>
              <a:t>Создан отдельный гитхаб аккаунт </a:t>
            </a:r>
            <a:r>
              <a:rPr lang="en-US" sz="1800" b="0"/>
              <a:t>mtproject-ru</a:t>
            </a:r>
            <a:r>
              <a:rPr lang="ru-RU" sz="1800" b="0"/>
              <a:t> (название нашей команды?)</a:t>
            </a:r>
            <a:r>
              <a:rPr lang="ru-RU" sz="1800" b="0"/>
              <a:t>, в котором будет два(?) </a:t>
            </a:r>
            <a:endParaRPr lang="ru-RU" sz="1800" b="0"/>
          </a:p>
          <a:p>
            <a:pPr>
              <a:defRPr/>
            </a:pPr>
            <a:r>
              <a:rPr lang="ru-RU" sz="1800" b="0"/>
              <a:t>репозитория: </a:t>
            </a:r>
            <a:r>
              <a:rPr lang="en-US" sz="1800" b="0"/>
              <a:t>server</a:t>
            </a:r>
            <a:r>
              <a:rPr lang="ru-RU" sz="1800" b="0"/>
              <a:t> - бэкенд, </a:t>
            </a:r>
            <a:r>
              <a:rPr lang="en-US" sz="1800" b="0"/>
              <a:t>website - </a:t>
            </a:r>
            <a:r>
              <a:rPr lang="en-US" sz="1800" b="0"/>
              <a:t>frontend</a:t>
            </a:r>
            <a:r>
              <a:rPr lang="ru-RU" sz="1800" b="0"/>
              <a:t> - это повысит </a:t>
            </a:r>
            <a:r>
              <a:rPr lang="ru-RU" sz="1800" b="0"/>
              <a:t>масштабируемость </a:t>
            </a:r>
            <a:r>
              <a:rPr lang="ru-RU" sz="1800" b="0"/>
              <a:t>нашего проекта</a:t>
            </a:r>
            <a:endParaRPr lang="ru-RU" sz="1800" b="0"/>
          </a:p>
        </p:txBody>
      </p:sp>
      <p:sp>
        <p:nvSpPr>
          <p:cNvPr id="785881327" name=""/>
          <p:cNvSpPr txBox="1"/>
          <p:nvPr/>
        </p:nvSpPr>
        <p:spPr bwMode="auto">
          <a:xfrm rot="0" flipH="0" flipV="0">
            <a:off x="826007" y="2916508"/>
            <a:ext cx="11114466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rgbClr val="FF0000"/>
                </a:solidFill>
              </a:rPr>
              <a:t>! Важно</a:t>
            </a:r>
            <a:r>
              <a:rPr lang="ru-RU"/>
              <a:t>, что </a:t>
            </a:r>
            <a:r>
              <a:rPr lang="en-US"/>
              <a:t>maybetomorrow</a:t>
            </a:r>
            <a:r>
              <a:rPr lang="ru-RU"/>
              <a:t> - это проект, а сама веб-платформа - один из продуктов данного проекта.</a:t>
            </a:r>
            <a:endParaRPr lang="ru-RU"/>
          </a:p>
          <a:p>
            <a:pPr>
              <a:defRPr/>
            </a:pPr>
            <a:r>
              <a:rPr lang="ru-RU"/>
              <a:t>Т.к. в будущем мы можем не остановиться на сайте, а сделать, например, мобильное</a:t>
            </a:r>
            <a:endParaRPr lang="ru-RU"/>
          </a:p>
          <a:p>
            <a:pPr>
              <a:defRPr/>
            </a:pPr>
            <a:r>
              <a:rPr lang="ru-RU"/>
              <a:t>приложение, то лучше с самого начала заложить правильную структуру.</a:t>
            </a:r>
            <a:r>
              <a:rPr lang="ru-RU"/>
              <a:t> </a:t>
            </a:r>
            <a:r>
              <a:rPr lang="ru-RU" i="1"/>
              <a:t>(мое видение)</a:t>
            </a:r>
            <a:endParaRPr i="1"/>
          </a:p>
        </p:txBody>
      </p:sp>
      <p:sp>
        <p:nvSpPr>
          <p:cNvPr id="1295232740" name=""/>
          <p:cNvSpPr txBox="1"/>
          <p:nvPr/>
        </p:nvSpPr>
        <p:spPr bwMode="auto">
          <a:xfrm rot="0" flipH="0" flipV="0">
            <a:off x="442161" y="3999402"/>
            <a:ext cx="11447097" cy="1219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3. Будем работать асинхронно</a:t>
            </a:r>
            <a:endParaRPr lang="ru-RU" sz="2000" b="1"/>
          </a:p>
          <a:p>
            <a:pPr>
              <a:defRPr/>
            </a:pPr>
            <a:r>
              <a:rPr lang="ru-RU" sz="1800" b="0"/>
              <a:t>Я постараюсь сделать задачи так, чтобы все работы были не зависимы друг от друга.</a:t>
            </a:r>
            <a:endParaRPr lang="ru-RU" sz="1800" b="0"/>
          </a:p>
          <a:p>
            <a:pPr>
              <a:defRPr/>
            </a:pPr>
            <a:r>
              <a:rPr lang="ru-RU" sz="1800" b="0"/>
              <a:t>Пример: на бэке нет функции получения пользователя, а на фронте уже будет готов компонент профиля</a:t>
            </a:r>
            <a:endParaRPr lang="ru-RU" sz="1800" b="0"/>
          </a:p>
          <a:p>
            <a:pPr>
              <a:defRPr/>
            </a:pPr>
            <a:r>
              <a:rPr lang="ru-RU" sz="1800" b="0"/>
              <a:t>с синтетическими данными</a:t>
            </a:r>
            <a:endParaRPr lang="ru-RU" sz="1800" b="0"/>
          </a:p>
        </p:txBody>
      </p:sp>
      <p:sp>
        <p:nvSpPr>
          <p:cNvPr id="619677910" name=""/>
          <p:cNvSpPr txBox="1"/>
          <p:nvPr/>
        </p:nvSpPr>
        <p:spPr bwMode="auto">
          <a:xfrm rot="0" flipH="0" flipV="0">
            <a:off x="442163" y="5313664"/>
            <a:ext cx="11885091" cy="1219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4. Тестирование</a:t>
            </a:r>
            <a:endParaRPr lang="ru-RU" sz="2000" b="1"/>
          </a:p>
          <a:p>
            <a:pPr>
              <a:defRPr/>
            </a:pPr>
            <a:r>
              <a:rPr lang="ru-RU" sz="1800" b="0"/>
              <a:t>Да, скорее всего, придется писать тесты... (либо тыкать руками, пока не знаю).</a:t>
            </a:r>
            <a:endParaRPr lang="ru-RU" sz="1800" b="0"/>
          </a:p>
          <a:p>
            <a:pPr>
              <a:defRPr/>
            </a:pPr>
            <a:r>
              <a:rPr lang="ru-RU" sz="1800" b="0"/>
              <a:t>Пример: бэк запушил фичу пользователя, на фронте компонент профиля готов, но при получении  данных</a:t>
            </a:r>
            <a:endParaRPr lang="ru-RU" sz="1800" b="0"/>
          </a:p>
          <a:p>
            <a:pPr>
              <a:defRPr/>
            </a:pPr>
            <a:r>
              <a:rPr lang="ru-RU" sz="1800" b="0"/>
              <a:t>возникают ошибки. Наша задача не быстренько сделать фичу, а сделать качественно, пусть и с опозданием!</a:t>
            </a:r>
            <a:endParaRPr lang="ru-RU" sz="18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015060" name=""/>
          <p:cNvSpPr txBox="1"/>
          <p:nvPr/>
        </p:nvSpPr>
        <p:spPr bwMode="auto">
          <a:xfrm rot="0" flipH="0" flipV="0">
            <a:off x="328431" y="230968"/>
            <a:ext cx="136521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Изменения</a:t>
            </a:r>
            <a:endParaRPr b="0" i="1"/>
          </a:p>
        </p:txBody>
      </p:sp>
      <p:cxnSp>
        <p:nvCxnSpPr>
          <p:cNvPr id="148570168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756448" name=""/>
          <p:cNvSpPr txBox="1"/>
          <p:nvPr/>
        </p:nvSpPr>
        <p:spPr bwMode="auto">
          <a:xfrm rot="0" flipH="0" flipV="0">
            <a:off x="442163" y="824551"/>
            <a:ext cx="10976955" cy="14938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5. </a:t>
            </a:r>
            <a:r>
              <a:rPr lang="en-US" sz="2000" b="1"/>
              <a:t>Feature-based</a:t>
            </a:r>
            <a:r>
              <a:rPr lang="ru-RU" sz="2000" b="1"/>
              <a:t> архитектура (по фичам)</a:t>
            </a:r>
            <a:endParaRPr lang="ru-RU" sz="2000" b="1"/>
          </a:p>
          <a:p>
            <a:pPr>
              <a:defRPr/>
            </a:pPr>
            <a:r>
              <a:rPr lang="ru-RU" sz="1800" b="0"/>
              <a:t>Если раньше мы разрабатывали каждый функционал отдельно, то сейчас весь функционал будет</a:t>
            </a:r>
            <a:endParaRPr lang="ru-RU" sz="1800" b="0"/>
          </a:p>
          <a:p>
            <a:pPr>
              <a:defRPr/>
            </a:pPr>
            <a:r>
              <a:rPr lang="ru-RU" sz="1800" b="0"/>
              <a:t>сгруппирован.</a:t>
            </a:r>
            <a:r>
              <a:rPr lang="ru-RU" sz="1800" b="0"/>
              <a:t> Даже если на это будет уходить больше времени. Но это поможет в тестировании!</a:t>
            </a:r>
            <a:endParaRPr lang="ru-RU" sz="1800" b="0"/>
          </a:p>
          <a:p>
            <a:pPr>
              <a:defRPr/>
            </a:pPr>
            <a:r>
              <a:rPr lang="ru-RU" sz="1800" b="0"/>
              <a:t>Пример: Фича </a:t>
            </a:r>
            <a:r>
              <a:rPr lang="en-US" sz="1800" b="0"/>
              <a:t>events</a:t>
            </a:r>
            <a:r>
              <a:rPr lang="ru-RU" sz="1800" b="0"/>
              <a:t> (события) - весь функционал БД по событиям, все эндпоинты, все страницы на</a:t>
            </a:r>
            <a:endParaRPr lang="ru-RU" sz="1800" b="0"/>
          </a:p>
          <a:p>
            <a:pPr>
              <a:defRPr/>
            </a:pPr>
            <a:r>
              <a:rPr lang="ru-RU" sz="1800" b="0"/>
              <a:t>фронте.</a:t>
            </a:r>
            <a:r>
              <a:rPr lang="ru-RU" sz="1800" b="0"/>
              <a:t> Полное тестирование данной фичи, она полностью функционирует - забыли, идем дальше.</a:t>
            </a:r>
            <a:endParaRPr lang="ru-RU" sz="1800" b="0"/>
          </a:p>
        </p:txBody>
      </p:sp>
      <p:sp>
        <p:nvSpPr>
          <p:cNvPr id="545027119" name=""/>
          <p:cNvSpPr txBox="1"/>
          <p:nvPr/>
        </p:nvSpPr>
        <p:spPr bwMode="auto">
          <a:xfrm rot="0" flipH="0" flipV="0">
            <a:off x="442163" y="2738954"/>
            <a:ext cx="10080306" cy="9452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000" b="1"/>
              <a:t>6. Онлайн встречи</a:t>
            </a:r>
            <a:endParaRPr lang="ru-RU" sz="2000" b="1"/>
          </a:p>
          <a:p>
            <a:pPr>
              <a:defRPr/>
            </a:pPr>
            <a:r>
              <a:rPr lang="ru-RU" sz="1800" b="0"/>
              <a:t>Да, придется иногда проводить встречи онлайн, потому что оффлайн не всегда получается.</a:t>
            </a:r>
            <a:endParaRPr lang="ru-RU" sz="1800" b="0"/>
          </a:p>
          <a:p>
            <a:pPr>
              <a:defRPr/>
            </a:pPr>
            <a:r>
              <a:rPr lang="ru-RU" sz="1800" b="0"/>
              <a:t>Будем использовать либо дискорд, либо Яндекс телемост</a:t>
            </a:r>
            <a:endParaRPr lang="ru-RU" sz="1800" b="0"/>
          </a:p>
        </p:txBody>
      </p:sp>
      <p:sp>
        <p:nvSpPr>
          <p:cNvPr id="1499952406" name=""/>
          <p:cNvSpPr txBox="1"/>
          <p:nvPr/>
        </p:nvSpPr>
        <p:spPr bwMode="auto">
          <a:xfrm rot="0" flipH="0" flipV="0">
            <a:off x="442161" y="5237214"/>
            <a:ext cx="5968049" cy="118871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Фича </a:t>
            </a:r>
            <a:r>
              <a:rPr lang="ru-RU"/>
              <a:t>- совокупность функционала, объединенного общим смыслом</a:t>
            </a:r>
            <a:endParaRPr lang="ru-RU"/>
          </a:p>
          <a:p>
            <a:pPr algn="l">
              <a:defRPr/>
            </a:pPr>
            <a:r>
              <a:rPr lang="ru-RU"/>
              <a:t>(пр: фича пользователя - модель пользователя, репо, контроллера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691519" name=""/>
          <p:cNvSpPr txBox="1"/>
          <p:nvPr/>
        </p:nvSpPr>
        <p:spPr bwMode="auto">
          <a:xfrm rot="0" flipH="0" flipV="0">
            <a:off x="328430" y="230967"/>
            <a:ext cx="173233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Терминология</a:t>
            </a:r>
            <a:endParaRPr b="0" i="1"/>
          </a:p>
        </p:txBody>
      </p:sp>
      <p:cxnSp>
        <p:nvCxnSpPr>
          <p:cNvPr id="747977511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387155" name=""/>
          <p:cNvSpPr txBox="1"/>
          <p:nvPr/>
        </p:nvSpPr>
        <p:spPr bwMode="auto">
          <a:xfrm rot="0" flipH="0" flipV="0">
            <a:off x="470596" y="838768"/>
            <a:ext cx="11219614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 дальнейшем может встретиться большое количество новых слов и принципов, поэтому я их немного</a:t>
            </a:r>
            <a:endParaRPr lang="ru-RU"/>
          </a:p>
          <a:p>
            <a:pPr>
              <a:defRPr/>
            </a:pPr>
            <a:r>
              <a:rPr lang="ru-RU"/>
              <a:t>разбил. Здесь будут основы.</a:t>
            </a:r>
            <a:endParaRPr/>
          </a:p>
        </p:txBody>
      </p:sp>
      <p:pic>
        <p:nvPicPr>
          <p:cNvPr id="14838315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8430" y="1775282"/>
            <a:ext cx="7221942" cy="2667562"/>
          </a:xfrm>
          <a:prstGeom prst="rect">
            <a:avLst/>
          </a:prstGeom>
        </p:spPr>
      </p:pic>
      <p:pic>
        <p:nvPicPr>
          <p:cNvPr id="6532522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28429" y="4442845"/>
            <a:ext cx="6098846" cy="804975"/>
          </a:xfrm>
          <a:prstGeom prst="rect">
            <a:avLst/>
          </a:prstGeom>
        </p:spPr>
      </p:pic>
      <p:sp>
        <p:nvSpPr>
          <p:cNvPr id="978638310" name=""/>
          <p:cNvSpPr txBox="1"/>
          <p:nvPr/>
        </p:nvSpPr>
        <p:spPr bwMode="auto">
          <a:xfrm rot="0" flipH="0" flipV="0">
            <a:off x="7749402" y="1739748"/>
            <a:ext cx="4385707" cy="640440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Интерфейс </a:t>
            </a:r>
            <a:r>
              <a:rPr lang="ru-RU"/>
              <a:t>- интерфейс, описание функционала без реализации</a:t>
            </a:r>
            <a:endParaRPr lang="ru-RU"/>
          </a:p>
        </p:txBody>
      </p:sp>
      <p:cxnSp>
        <p:nvCxnSpPr>
          <p:cNvPr id="617925992" name=""/>
          <p:cNvCxnSpPr>
            <a:stCxn id="978638310" idx="1"/>
          </p:cNvCxnSpPr>
          <p:nvPr/>
        </p:nvCxnSpPr>
        <p:spPr bwMode="auto">
          <a:xfrm rot="10799989" flipH="0" flipV="1">
            <a:off x="3598208" y="2060674"/>
            <a:ext cx="4151193" cy="0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48453" name=""/>
          <p:cNvSpPr txBox="1"/>
          <p:nvPr/>
        </p:nvSpPr>
        <p:spPr bwMode="auto">
          <a:xfrm rot="0" flipH="0" flipV="0">
            <a:off x="8059942" y="2651684"/>
            <a:ext cx="4075166" cy="914760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Имплементация </a:t>
            </a:r>
            <a:r>
              <a:rPr lang="ru-RU"/>
              <a:t>- реализация функционала, описанного в интерфейсе</a:t>
            </a:r>
            <a:endParaRPr lang="ru-RU"/>
          </a:p>
        </p:txBody>
      </p:sp>
      <p:cxnSp>
        <p:nvCxnSpPr>
          <p:cNvPr id="526622929" name=""/>
          <p:cNvCxnSpPr>
            <a:stCxn id="1741348453" idx="1"/>
          </p:cNvCxnSpPr>
          <p:nvPr/>
        </p:nvCxnSpPr>
        <p:spPr bwMode="auto">
          <a:xfrm rot="10799989" flipH="0" flipV="0">
            <a:off x="7379776" y="2914365"/>
            <a:ext cx="680167" cy="194699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516360" name=""/>
          <p:cNvSpPr/>
          <p:nvPr/>
        </p:nvSpPr>
        <p:spPr bwMode="auto">
          <a:xfrm>
            <a:off x="6924850" y="2473656"/>
            <a:ext cx="398059" cy="63973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2880"/>
                </a:moveTo>
                <a:cubicBezTo>
                  <a:pt x="3085" y="960"/>
                  <a:pt x="9257" y="960"/>
                  <a:pt x="13885" y="0"/>
                </a:cubicBezTo>
                <a:cubicBezTo>
                  <a:pt x="18514" y="0"/>
                  <a:pt x="23142" y="0"/>
                  <a:pt x="23142" y="2880"/>
                </a:cubicBezTo>
                <a:cubicBezTo>
                  <a:pt x="23142" y="6720"/>
                  <a:pt x="27771" y="5760"/>
                  <a:pt x="37028" y="5760"/>
                </a:cubicBezTo>
                <a:cubicBezTo>
                  <a:pt x="33942" y="9600"/>
                  <a:pt x="30857" y="12480"/>
                  <a:pt x="30857" y="16320"/>
                </a:cubicBezTo>
                <a:cubicBezTo>
                  <a:pt x="30857" y="22080"/>
                  <a:pt x="35485" y="23040"/>
                  <a:pt x="35485" y="26879"/>
                </a:cubicBezTo>
                <a:cubicBezTo>
                  <a:pt x="33942" y="29759"/>
                  <a:pt x="38571" y="31679"/>
                  <a:pt x="41657" y="34559"/>
                </a:cubicBezTo>
                <a:cubicBezTo>
                  <a:pt x="43200" y="37439"/>
                  <a:pt x="40114" y="39360"/>
                  <a:pt x="37028" y="432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439906" name=""/>
          <p:cNvSpPr/>
          <p:nvPr/>
        </p:nvSpPr>
        <p:spPr bwMode="auto">
          <a:xfrm>
            <a:off x="7024365" y="3113395"/>
            <a:ext cx="156379" cy="52600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2335"/>
                </a:moveTo>
                <a:cubicBezTo>
                  <a:pt x="11781" y="2335"/>
                  <a:pt x="27490" y="1167"/>
                  <a:pt x="43200" y="0"/>
                </a:cubicBezTo>
                <a:cubicBezTo>
                  <a:pt x="39272" y="5837"/>
                  <a:pt x="31418" y="9340"/>
                  <a:pt x="27490" y="12843"/>
                </a:cubicBezTo>
                <a:cubicBezTo>
                  <a:pt x="39272" y="12843"/>
                  <a:pt x="39272" y="16345"/>
                  <a:pt x="35345" y="19848"/>
                </a:cubicBezTo>
                <a:cubicBezTo>
                  <a:pt x="35345" y="23351"/>
                  <a:pt x="27490" y="25686"/>
                  <a:pt x="39272" y="26854"/>
                </a:cubicBezTo>
                <a:cubicBezTo>
                  <a:pt x="35345" y="30356"/>
                  <a:pt x="23563" y="35027"/>
                  <a:pt x="35345" y="36194"/>
                </a:cubicBezTo>
                <a:quadBezTo>
                  <a:pt x="35345" y="39697"/>
                  <a:pt x="31418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16951884" name=""/>
          <p:cNvCxnSpPr>
            <a:stCxn id="1741348453" idx="1"/>
          </p:cNvCxnSpPr>
          <p:nvPr/>
        </p:nvCxnSpPr>
        <p:spPr bwMode="auto">
          <a:xfrm rot="10799989" flipH="0" flipV="1">
            <a:off x="7266044" y="3109064"/>
            <a:ext cx="793899" cy="203360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2434995" name=""/>
          <p:cNvSpPr txBox="1"/>
          <p:nvPr/>
        </p:nvSpPr>
        <p:spPr bwMode="auto">
          <a:xfrm rot="0" flipH="0" flipV="0">
            <a:off x="7749402" y="4826704"/>
            <a:ext cx="3814002" cy="36575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Инстанс </a:t>
            </a:r>
            <a:r>
              <a:rPr lang="ru-RU"/>
              <a:t>- объект имплементации</a:t>
            </a:r>
            <a:endParaRPr lang="ru-RU"/>
          </a:p>
        </p:txBody>
      </p:sp>
      <p:cxnSp>
        <p:nvCxnSpPr>
          <p:cNvPr id="1552286326" name=""/>
          <p:cNvCxnSpPr>
            <a:stCxn id="1872434995" idx="1"/>
          </p:cNvCxnSpPr>
          <p:nvPr/>
        </p:nvCxnSpPr>
        <p:spPr bwMode="auto">
          <a:xfrm rot="10799989" flipH="0" flipV="0">
            <a:off x="6270894" y="4734066"/>
            <a:ext cx="1478506" cy="275516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018602" name=""/>
          <p:cNvSpPr txBox="1"/>
          <p:nvPr/>
        </p:nvSpPr>
        <p:spPr bwMode="auto">
          <a:xfrm rot="0" flipH="0" flipV="0">
            <a:off x="3832637" y="5576321"/>
            <a:ext cx="7660712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Имплементация, которая используется в данный момент, называется</a:t>
            </a:r>
            <a:endParaRPr lang="ru-RU"/>
          </a:p>
          <a:p>
            <a:pPr>
              <a:defRPr/>
            </a:pPr>
            <a:r>
              <a:rPr lang="ru-RU" i="1"/>
              <a:t>стандартной</a:t>
            </a:r>
            <a:endParaRPr/>
          </a:p>
        </p:txBody>
      </p:sp>
      <p:cxnSp>
        <p:nvCxnSpPr>
          <p:cNvPr id="1801069908" name=""/>
          <p:cNvCxnSpPr>
            <a:stCxn id="448018602" idx="1"/>
          </p:cNvCxnSpPr>
          <p:nvPr/>
        </p:nvCxnSpPr>
        <p:spPr bwMode="auto">
          <a:xfrm rot="10799989" flipH="0" flipV="0">
            <a:off x="3541343" y="4751769"/>
            <a:ext cx="291294" cy="1144771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127135" name=""/>
          <p:cNvSpPr txBox="1"/>
          <p:nvPr/>
        </p:nvSpPr>
        <p:spPr bwMode="auto">
          <a:xfrm rot="0" flipH="0" flipV="0">
            <a:off x="126899" y="6354738"/>
            <a:ext cx="1188051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 дальнейшем выражение «создаем инстанс» будет означать «создаем объект стандартной имплементации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233948" name=""/>
          <p:cNvSpPr txBox="1"/>
          <p:nvPr/>
        </p:nvSpPr>
        <p:spPr bwMode="auto">
          <a:xfrm rot="0" flipH="0" flipV="0">
            <a:off x="328431" y="230968"/>
            <a:ext cx="236633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endParaRPr b="0" i="1"/>
          </a:p>
        </p:txBody>
      </p:sp>
      <p:cxnSp>
        <p:nvCxnSpPr>
          <p:cNvPr id="135775632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840616" name=""/>
          <p:cNvSpPr txBox="1"/>
          <p:nvPr/>
        </p:nvSpPr>
        <p:spPr bwMode="auto">
          <a:xfrm rot="0" flipH="0" flipV="0">
            <a:off x="3655073" y="767686"/>
            <a:ext cx="8044128" cy="37798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/>
              <a:t>cmd</a:t>
            </a:r>
            <a:r>
              <a:rPr lang="ru-RU" sz="2200"/>
              <a:t> - точка входа в приложение, там </a:t>
            </a:r>
            <a:r>
              <a:rPr lang="en-US" sz="2200"/>
              <a:t>main.go</a:t>
            </a:r>
            <a:endParaRPr sz="2200"/>
          </a:p>
          <a:p>
            <a:pPr>
              <a:defRPr/>
            </a:pPr>
            <a:r>
              <a:rPr sz="2200" b="1"/>
              <a:t>config</a:t>
            </a:r>
            <a:r>
              <a:rPr lang="ru-RU" sz="2200" b="1"/>
              <a:t> </a:t>
            </a:r>
            <a:r>
              <a:rPr lang="ru-RU" sz="2200"/>
              <a:t>- конфигурации</a:t>
            </a:r>
            <a:endParaRPr sz="2200"/>
          </a:p>
          <a:p>
            <a:pPr>
              <a:defRPr/>
            </a:pPr>
            <a:r>
              <a:rPr sz="2200" b="1"/>
              <a:t>database</a:t>
            </a:r>
            <a:r>
              <a:rPr lang="ru-RU" sz="2200" b="1"/>
              <a:t> </a:t>
            </a:r>
            <a:r>
              <a:rPr lang="ru-RU" sz="2200"/>
              <a:t>- структуры БД, репозитории и модели</a:t>
            </a:r>
            <a:endParaRPr sz="2200"/>
          </a:p>
          <a:p>
            <a:pPr>
              <a:defRPr/>
            </a:pPr>
            <a:r>
              <a:rPr sz="2200" b="1"/>
              <a:t>logs</a:t>
            </a:r>
            <a:r>
              <a:rPr lang="ru-RU" sz="2200" b="1"/>
              <a:t> </a:t>
            </a:r>
            <a:r>
              <a:rPr lang="ru-RU" sz="2200"/>
              <a:t>- логи приложения (</a:t>
            </a:r>
            <a:r>
              <a:rPr lang="en-US" sz="2200"/>
              <a:t>.log</a:t>
            </a:r>
            <a:r>
              <a:rPr lang="ru-RU" sz="2200"/>
              <a:t> или </a:t>
            </a:r>
            <a:r>
              <a:rPr lang="en-US" sz="2200"/>
              <a:t>.txt</a:t>
            </a:r>
            <a:r>
              <a:rPr lang="ru-RU" sz="2200"/>
              <a:t> файлы)</a:t>
            </a:r>
            <a:endParaRPr lang="ru-RU" sz="2200"/>
          </a:p>
          <a:p>
            <a:pPr>
              <a:defRPr/>
            </a:pPr>
            <a:r>
              <a:rPr lang="en-US" sz="2200" b="1"/>
              <a:t>migrations </a:t>
            </a:r>
            <a:r>
              <a:rPr lang="en-US" sz="2200"/>
              <a:t>- </a:t>
            </a:r>
            <a:r>
              <a:rPr lang="ru-RU" sz="2200"/>
              <a:t>миграции для базы данных (используем </a:t>
            </a:r>
            <a:r>
              <a:rPr lang="en-US" sz="2200"/>
              <a:t>goose)</a:t>
            </a:r>
            <a:endParaRPr sz="2200"/>
          </a:p>
          <a:p>
            <a:pPr>
              <a:defRPr/>
            </a:pPr>
            <a:r>
              <a:rPr sz="2200" b="1"/>
              <a:t>services</a:t>
            </a:r>
            <a:r>
              <a:rPr lang="ru-RU" sz="2200" b="1"/>
              <a:t> </a:t>
            </a:r>
            <a:r>
              <a:rPr lang="ru-RU" sz="2200"/>
              <a:t>- сервисы</a:t>
            </a:r>
            <a:endParaRPr sz="2200"/>
          </a:p>
          <a:p>
            <a:pPr>
              <a:defRPr/>
            </a:pPr>
            <a:r>
              <a:rPr sz="2200" b="1"/>
              <a:t>web</a:t>
            </a:r>
            <a:r>
              <a:rPr lang="ru-RU" sz="2200" b="1"/>
              <a:t> </a:t>
            </a:r>
            <a:r>
              <a:rPr lang="ru-RU" sz="2200"/>
              <a:t>- ендпоинты, контроллеры, </a:t>
            </a:r>
            <a:r>
              <a:rPr sz="2200"/>
              <a:t>DTO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2200" b="1"/>
              <a:t>.env</a:t>
            </a:r>
            <a:r>
              <a:rPr sz="2200"/>
              <a:t> </a:t>
            </a:r>
            <a:r>
              <a:rPr lang="ru-RU" sz="2200"/>
              <a:t> - переменные окружения</a:t>
            </a:r>
            <a:endParaRPr lang="ru-RU" sz="2200"/>
          </a:p>
          <a:p>
            <a:pPr>
              <a:defRPr/>
            </a:pPr>
            <a:r>
              <a:rPr lang="en-US" sz="2200" b="1"/>
              <a:t>.env.example</a:t>
            </a:r>
            <a:r>
              <a:rPr lang="ru-RU" sz="2200"/>
              <a:t> - пример необходимых переменных</a:t>
            </a:r>
            <a:endParaRPr lang="ru-RU" sz="2200"/>
          </a:p>
          <a:p>
            <a:pPr>
              <a:defRPr/>
            </a:pPr>
            <a:r>
              <a:rPr lang="en-US" sz="2200" b="1"/>
              <a:t>compose.yaml, Dockerfile</a:t>
            </a:r>
            <a:r>
              <a:rPr lang="ru-RU" sz="2200"/>
              <a:t> - конфигурация докера*</a:t>
            </a:r>
            <a:endParaRPr sz="2200"/>
          </a:p>
        </p:txBody>
      </p:sp>
      <p:sp>
        <p:nvSpPr>
          <p:cNvPr id="1292921" name=""/>
          <p:cNvSpPr txBox="1"/>
          <p:nvPr/>
        </p:nvSpPr>
        <p:spPr bwMode="auto">
          <a:xfrm rot="0" flipH="0" flipV="0">
            <a:off x="415978" y="4975745"/>
            <a:ext cx="10858634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Каждая папка, кроме </a:t>
            </a:r>
            <a:r>
              <a:rPr lang="en-US"/>
              <a:t>cmd, config, logs</a:t>
            </a:r>
            <a:r>
              <a:rPr lang="en-US"/>
              <a:t>, migrations</a:t>
            </a:r>
            <a:r>
              <a:rPr lang="ru-RU"/>
              <a:t> представляет из себя «модуль». В каждом модуле</a:t>
            </a:r>
            <a:endParaRPr lang="ru-RU"/>
          </a:p>
          <a:p>
            <a:pPr>
              <a:defRPr/>
            </a:pPr>
            <a:r>
              <a:rPr lang="ru-RU"/>
              <a:t>есть файл, который имеет схожее с модулем название. </a:t>
            </a:r>
            <a:endParaRPr lang="ru-RU"/>
          </a:p>
          <a:p>
            <a:pPr>
              <a:defRPr/>
            </a:pPr>
            <a:r>
              <a:rPr lang="ru-RU"/>
              <a:t>В нем находятся </a:t>
            </a:r>
            <a:r>
              <a:rPr lang="en-US"/>
              <a:t>Setup</a:t>
            </a:r>
            <a:r>
              <a:rPr lang="ru-RU"/>
              <a:t>-функции, которые собирают все предметы в модуле воедино</a:t>
            </a:r>
            <a:endParaRPr/>
          </a:p>
        </p:txBody>
      </p:sp>
      <p:pic>
        <p:nvPicPr>
          <p:cNvPr id="21126321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8430" y="767686"/>
            <a:ext cx="2409824" cy="3667124"/>
          </a:xfrm>
          <a:prstGeom prst="rect">
            <a:avLst/>
          </a:prstGeom>
        </p:spPr>
      </p:pic>
      <p:sp>
        <p:nvSpPr>
          <p:cNvPr id="376849701" name=""/>
          <p:cNvSpPr txBox="1"/>
          <p:nvPr/>
        </p:nvSpPr>
        <p:spPr bwMode="auto">
          <a:xfrm rot="0" flipH="0" flipV="0">
            <a:off x="415978" y="5994892"/>
            <a:ext cx="5549360" cy="64007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Модуль </a:t>
            </a:r>
            <a:r>
              <a:rPr lang="ru-RU"/>
              <a:t>- совокупность схожего функционала</a:t>
            </a:r>
            <a:r>
              <a:rPr lang="ru-RU"/>
              <a:t> (пр: модуль сервисов, модуль конфигурации)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678442" name=""/>
          <p:cNvSpPr txBox="1"/>
          <p:nvPr/>
        </p:nvSpPr>
        <p:spPr bwMode="auto">
          <a:xfrm rot="0" flipH="0" flipV="0">
            <a:off x="328431" y="230968"/>
            <a:ext cx="236633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endParaRPr b="0" i="1"/>
          </a:p>
        </p:txBody>
      </p:sp>
      <p:cxnSp>
        <p:nvCxnSpPr>
          <p:cNvPr id="1269822477" name=""/>
          <p:cNvCxnSpPr/>
          <p:nvPr/>
        </p:nvCxnSpPr>
        <p:spPr bwMode="auto">
          <a:xfrm flipH="0" flipV="0">
            <a:off x="-59707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83544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9514" y="725037"/>
            <a:ext cx="2343150" cy="2162174"/>
          </a:xfrm>
          <a:prstGeom prst="rect">
            <a:avLst/>
          </a:prstGeom>
        </p:spPr>
      </p:pic>
      <p:sp>
        <p:nvSpPr>
          <p:cNvPr id="639605062" name=""/>
          <p:cNvSpPr txBox="1"/>
          <p:nvPr/>
        </p:nvSpPr>
        <p:spPr bwMode="auto">
          <a:xfrm rot="0" flipH="0" flipV="0">
            <a:off x="3086416" y="668171"/>
            <a:ext cx="149223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cmd/main.go</a:t>
            </a:r>
            <a:endParaRPr/>
          </a:p>
        </p:txBody>
      </p:sp>
      <p:pic>
        <p:nvPicPr>
          <p:cNvPr id="11561467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91416" y="3429000"/>
            <a:ext cx="5581208" cy="1080447"/>
          </a:xfrm>
          <a:prstGeom prst="rect">
            <a:avLst/>
          </a:prstGeom>
        </p:spPr>
      </p:pic>
      <p:sp>
        <p:nvSpPr>
          <p:cNvPr id="765626305" name=""/>
          <p:cNvSpPr txBox="1"/>
          <p:nvPr/>
        </p:nvSpPr>
        <p:spPr bwMode="auto">
          <a:xfrm rot="0" flipH="0" flipV="0">
            <a:off x="2298037" y="3429000"/>
            <a:ext cx="228061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config/env_config.go</a:t>
            </a:r>
            <a:endParaRPr/>
          </a:p>
        </p:txBody>
      </p:sp>
      <p:pic>
        <p:nvPicPr>
          <p:cNvPr id="202296008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582536" y="4605634"/>
            <a:ext cx="8161678" cy="1419102"/>
          </a:xfrm>
          <a:prstGeom prst="rect">
            <a:avLst/>
          </a:prstGeom>
        </p:spPr>
      </p:pic>
      <p:sp>
        <p:nvSpPr>
          <p:cNvPr id="1287124990" name=""/>
          <p:cNvSpPr txBox="1"/>
          <p:nvPr/>
        </p:nvSpPr>
        <p:spPr bwMode="auto">
          <a:xfrm rot="0" flipH="0" flipV="0">
            <a:off x="700420" y="4605634"/>
            <a:ext cx="273792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logs/year_month_day.log</a:t>
            </a:r>
            <a:endParaRPr/>
          </a:p>
        </p:txBody>
      </p:sp>
      <p:pic>
        <p:nvPicPr>
          <p:cNvPr id="173929450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691416" y="526007"/>
            <a:ext cx="5943917" cy="2810219"/>
          </a:xfrm>
          <a:prstGeom prst="rect">
            <a:avLst/>
          </a:prstGeom>
        </p:spPr>
      </p:pic>
      <p:sp>
        <p:nvSpPr>
          <p:cNvPr id="1584056391" name=""/>
          <p:cNvSpPr txBox="1"/>
          <p:nvPr/>
        </p:nvSpPr>
        <p:spPr bwMode="auto">
          <a:xfrm rot="0" flipH="0" flipV="0">
            <a:off x="1033245" y="6237936"/>
            <a:ext cx="1012551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Логи в гит не пушим! Они только для локальной разработки и сервера, не для репозитория!!!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532687" name=""/>
          <p:cNvSpPr txBox="1"/>
          <p:nvPr/>
        </p:nvSpPr>
        <p:spPr bwMode="auto">
          <a:xfrm rot="0" flipH="0" flipV="0">
            <a:off x="328430" y="230967"/>
            <a:ext cx="367396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Модуль БД</a:t>
            </a:r>
            <a:endParaRPr b="0" i="1"/>
          </a:p>
        </p:txBody>
      </p:sp>
      <p:cxnSp>
        <p:nvCxnSpPr>
          <p:cNvPr id="2011269731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0225233" name=""/>
          <p:cNvSpPr txBox="1"/>
          <p:nvPr/>
        </p:nvSpPr>
        <p:spPr bwMode="auto">
          <a:xfrm rot="0" flipH="0" flipV="0">
            <a:off x="7893306" y="5803922"/>
            <a:ext cx="150552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/database.go</a:t>
            </a:r>
            <a:endParaRPr/>
          </a:p>
        </p:txBody>
      </p:sp>
      <p:pic>
        <p:nvPicPr>
          <p:cNvPr id="21191532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46828" y="728662"/>
            <a:ext cx="6534967" cy="4972120"/>
          </a:xfrm>
          <a:prstGeom prst="rect">
            <a:avLst/>
          </a:prstGeom>
        </p:spPr>
      </p:pic>
      <p:sp>
        <p:nvSpPr>
          <p:cNvPr id="791260384" name=""/>
          <p:cNvSpPr txBox="1"/>
          <p:nvPr/>
        </p:nvSpPr>
        <p:spPr bwMode="auto">
          <a:xfrm rot="0" flipH="0" flipV="0">
            <a:off x="157835" y="3062880"/>
            <a:ext cx="343543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i="1"/>
              <a:t>Почему здесь есть </a:t>
            </a:r>
            <a:r>
              <a:rPr lang="en-US" i="1"/>
              <a:t>log</a:t>
            </a:r>
            <a:r>
              <a:rPr lang="ru-RU" i="1"/>
              <a:t> и </a:t>
            </a:r>
            <a:r>
              <a:rPr lang="en-US" i="1"/>
              <a:t>slog?</a:t>
            </a:r>
            <a:endParaRPr i="1"/>
          </a:p>
        </p:txBody>
      </p:sp>
      <p:sp>
        <p:nvSpPr>
          <p:cNvPr id="1560439495" name=""/>
          <p:cNvSpPr/>
          <p:nvPr/>
        </p:nvSpPr>
        <p:spPr bwMode="auto">
          <a:xfrm>
            <a:off x="5958134" y="4193843"/>
            <a:ext cx="369626" cy="0"/>
          </a:xfrm>
          <a:custGeom>
            <a:avLst/>
            <a:gdLst/>
            <a:ahLst/>
            <a:cxnLst/>
            <a:rect l="l" t="t" r="r" b="b"/>
            <a:pathLst>
              <a:path w="43200" h="0" fill="none" stroke="1" extrusionOk="0">
                <a:moveTo>
                  <a:pt x="0" y="0"/>
                </a:moveTo>
                <a:cubicBezTo>
                  <a:pt x="6646" y="0"/>
                  <a:pt x="11630" y="0"/>
                  <a:pt x="16615" y="0"/>
                </a:cubicBezTo>
                <a:cubicBezTo>
                  <a:pt x="21599" y="0"/>
                  <a:pt x="26584" y="0"/>
                  <a:pt x="31569" y="0"/>
                </a:cubicBezTo>
                <a:quadBezTo>
                  <a:pt x="36553" y="0"/>
                  <a:pt x="43200" y="0"/>
                </a:quadBezTo>
              </a:path>
            </a:pathLst>
          </a:custGeom>
          <a:noFill/>
          <a:ln w="216000">
            <a:solidFill>
              <a:srgbClr val="74F9FD">
                <a:alpha val="4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0899744" name=""/>
          <p:cNvSpPr/>
          <p:nvPr/>
        </p:nvSpPr>
        <p:spPr bwMode="auto">
          <a:xfrm>
            <a:off x="5702238" y="5416453"/>
            <a:ext cx="383843" cy="0"/>
          </a:xfrm>
          <a:custGeom>
            <a:avLst/>
            <a:gdLst/>
            <a:ahLst/>
            <a:cxnLst/>
            <a:rect l="l" t="t" r="r" b="b"/>
            <a:pathLst>
              <a:path w="43200" h="0" fill="none" stroke="1" extrusionOk="0">
                <a:moveTo>
                  <a:pt x="0" y="0"/>
                </a:moveTo>
                <a:cubicBezTo>
                  <a:pt x="6400" y="0"/>
                  <a:pt x="12800" y="0"/>
                  <a:pt x="17599" y="0"/>
                </a:cubicBezTo>
                <a:cubicBezTo>
                  <a:pt x="22400" y="0"/>
                  <a:pt x="28800" y="0"/>
                  <a:pt x="33599" y="0"/>
                </a:cubicBezTo>
                <a:quadBezTo>
                  <a:pt x="38400" y="0"/>
                  <a:pt x="43200" y="0"/>
                </a:quadBezTo>
              </a:path>
            </a:pathLst>
          </a:custGeom>
          <a:noFill/>
          <a:ln w="216000">
            <a:solidFill>
              <a:srgbClr val="EB51F7">
                <a:alpha val="4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0547901" name=""/>
          <p:cNvSpPr txBox="1"/>
          <p:nvPr/>
        </p:nvSpPr>
        <p:spPr bwMode="auto">
          <a:xfrm rot="0" flipH="0" flipV="0">
            <a:off x="157835" y="3610969"/>
            <a:ext cx="5203389" cy="2834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У нас будет договоренность (далее), что</a:t>
            </a:r>
            <a:endParaRPr lang="ru-RU"/>
          </a:p>
          <a:p>
            <a:pPr>
              <a:defRPr/>
            </a:pPr>
            <a:r>
              <a:rPr lang="ru-RU"/>
              <a:t>из модуля </a:t>
            </a:r>
            <a:r>
              <a:rPr lang="en-US" b="1"/>
              <a:t>log</a:t>
            </a:r>
            <a:r>
              <a:rPr lang="ru-RU"/>
              <a:t> вызываем только </a:t>
            </a:r>
            <a:r>
              <a:rPr lang="en-US" b="1"/>
              <a:t>Fatalf</a:t>
            </a:r>
            <a:r>
              <a:rPr lang="ru-RU" b="1"/>
              <a:t> </a:t>
            </a:r>
            <a:r>
              <a:rPr lang="ru-RU"/>
              <a:t>и</a:t>
            </a:r>
            <a:endParaRPr lang="ru-RU"/>
          </a:p>
          <a:p>
            <a:pPr>
              <a:defRPr/>
            </a:pPr>
            <a:r>
              <a:rPr lang="ru-RU"/>
              <a:t>завершаем приложение</a:t>
            </a:r>
            <a:endParaRPr lang="ru-RU"/>
          </a:p>
          <a:p>
            <a:pPr>
              <a:defRPr/>
            </a:pPr>
            <a:r>
              <a:rPr lang="ru-RU"/>
              <a:t>Используем только при </a:t>
            </a:r>
            <a:r>
              <a:rPr lang="ru-RU" b="1"/>
              <a:t>критических </a:t>
            </a:r>
            <a:r>
              <a:rPr lang="ru-RU"/>
              <a:t>ошибках.</a:t>
            </a:r>
            <a:endParaRPr lang="ru-RU"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Если же возникает некритичная ошибка или</a:t>
            </a:r>
            <a:endParaRPr lang="ru-RU"/>
          </a:p>
          <a:p>
            <a:pPr>
              <a:defRPr/>
            </a:pPr>
            <a:r>
              <a:rPr lang="ru-RU"/>
              <a:t>предупреждение, то мы используем </a:t>
            </a:r>
            <a:r>
              <a:rPr lang="en-US" b="1"/>
              <a:t>slog</a:t>
            </a:r>
            <a:r>
              <a:rPr lang="ru-RU"/>
              <a:t>,</a:t>
            </a:r>
            <a:endParaRPr lang="ru-RU"/>
          </a:p>
          <a:p>
            <a:pPr>
              <a:defRPr/>
            </a:pPr>
            <a:r>
              <a:rPr lang="ru-RU"/>
              <a:t>который выводи ее в консоль и в ЛОГ ФАЙЛ</a:t>
            </a:r>
            <a:endParaRPr lang="ru-RU"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u="sng">
                <a:hlinkClick r:id="rId4" tooltip=""/>
              </a:rPr>
              <a:t>Ссылка на </a:t>
            </a:r>
            <a:r>
              <a:rPr lang="ru-RU" u="sng">
                <a:hlinkClick r:id="rId4" tooltip=""/>
              </a:rPr>
              <a:t>slog</a:t>
            </a:r>
            <a:endParaRPr/>
          </a:p>
        </p:txBody>
      </p:sp>
      <p:pic>
        <p:nvPicPr>
          <p:cNvPr id="196063694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43133" y="919239"/>
            <a:ext cx="2295524" cy="1304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72621" name=""/>
          <p:cNvSpPr txBox="1"/>
          <p:nvPr/>
        </p:nvSpPr>
        <p:spPr bwMode="auto">
          <a:xfrm rot="0" flipH="0" flipV="0">
            <a:off x="328430" y="230967"/>
            <a:ext cx="367396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Модуль БД</a:t>
            </a:r>
            <a:endParaRPr b="0" i="1"/>
          </a:p>
        </p:txBody>
      </p:sp>
      <p:cxnSp>
        <p:nvCxnSpPr>
          <p:cNvPr id="202803317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59134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81716" y="642642"/>
            <a:ext cx="2958469" cy="1285284"/>
          </a:xfrm>
          <a:prstGeom prst="rect">
            <a:avLst/>
          </a:prstGeom>
        </p:spPr>
      </p:pic>
      <p:sp>
        <p:nvSpPr>
          <p:cNvPr id="1305106882" name=""/>
          <p:cNvSpPr txBox="1"/>
          <p:nvPr/>
        </p:nvSpPr>
        <p:spPr bwMode="auto">
          <a:xfrm rot="0" flipH="0" flipV="0">
            <a:off x="3214365" y="736182"/>
            <a:ext cx="247092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/entities/user_entity.go</a:t>
            </a:r>
            <a:endParaRPr/>
          </a:p>
        </p:txBody>
      </p:sp>
      <p:pic>
        <p:nvPicPr>
          <p:cNvPr id="1022810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43133" y="2511416"/>
            <a:ext cx="6340522" cy="2384289"/>
          </a:xfrm>
          <a:prstGeom prst="rect">
            <a:avLst/>
          </a:prstGeom>
        </p:spPr>
      </p:pic>
      <p:sp>
        <p:nvSpPr>
          <p:cNvPr id="122650382" name=""/>
          <p:cNvSpPr txBox="1"/>
          <p:nvPr/>
        </p:nvSpPr>
        <p:spPr bwMode="auto">
          <a:xfrm rot="0" flipH="0" flipV="0">
            <a:off x="1489573" y="4831827"/>
            <a:ext cx="338554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/repositories/user_repository.go</a:t>
            </a:r>
            <a:endParaRPr/>
          </a:p>
        </p:txBody>
      </p:sp>
      <p:pic>
        <p:nvPicPr>
          <p:cNvPr id="139732557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43133" y="919241"/>
            <a:ext cx="2295524" cy="1304924"/>
          </a:xfrm>
          <a:prstGeom prst="rect">
            <a:avLst/>
          </a:prstGeom>
        </p:spPr>
      </p:pic>
      <p:sp>
        <p:nvSpPr>
          <p:cNvPr id="227664059" name=""/>
          <p:cNvSpPr txBox="1"/>
          <p:nvPr/>
        </p:nvSpPr>
        <p:spPr bwMode="auto">
          <a:xfrm rot="0" flipH="0" flipV="0">
            <a:off x="3182345" y="1285283"/>
            <a:ext cx="3452683" cy="36575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Модель </a:t>
            </a:r>
            <a:r>
              <a:rPr lang="ru-RU"/>
              <a:t>- объект базы данных</a:t>
            </a:r>
            <a:endParaRPr lang="ru-RU"/>
          </a:p>
        </p:txBody>
      </p:sp>
      <p:sp>
        <p:nvSpPr>
          <p:cNvPr id="1062578323" name=""/>
          <p:cNvSpPr txBox="1"/>
          <p:nvPr/>
        </p:nvSpPr>
        <p:spPr bwMode="auto">
          <a:xfrm rot="0" flipH="0" flipV="0">
            <a:off x="351020" y="5322512"/>
            <a:ext cx="5959919" cy="118907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Репозиторий(репо) </a:t>
            </a:r>
            <a:r>
              <a:rPr lang="ru-RU"/>
              <a:t>- интерфейс и его стандартная имплементация для работы с БД</a:t>
            </a:r>
            <a:r>
              <a:rPr lang="ru-RU"/>
              <a:t>. </a:t>
            </a:r>
            <a:endParaRPr lang="ru-RU"/>
          </a:p>
          <a:p>
            <a:pPr algn="l">
              <a:defRPr/>
            </a:pPr>
            <a:r>
              <a:rPr lang="ru-RU"/>
              <a:t>Он принимает только </a:t>
            </a:r>
            <a:r>
              <a:rPr lang="ru-RU"/>
              <a:t>модели (или их поля) и возвращает только их же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235471" name=""/>
          <p:cNvSpPr txBox="1"/>
          <p:nvPr/>
        </p:nvSpPr>
        <p:spPr bwMode="auto">
          <a:xfrm rot="0" flipH="0" flipV="0">
            <a:off x="328429" y="230967"/>
            <a:ext cx="367396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Модуль БД</a:t>
            </a:r>
            <a:endParaRPr b="0" i="1"/>
          </a:p>
        </p:txBody>
      </p:sp>
      <p:cxnSp>
        <p:nvCxnSpPr>
          <p:cNvPr id="1227351815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34949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44160" y="668170"/>
            <a:ext cx="6170652" cy="2320410"/>
          </a:xfrm>
          <a:prstGeom prst="rect">
            <a:avLst/>
          </a:prstGeom>
        </p:spPr>
      </p:pic>
      <p:sp>
        <p:nvSpPr>
          <p:cNvPr id="1658884716" name=""/>
          <p:cNvSpPr txBox="1"/>
          <p:nvPr/>
        </p:nvSpPr>
        <p:spPr bwMode="auto">
          <a:xfrm rot="0" flipH="0" flipV="0">
            <a:off x="7136712" y="3062880"/>
            <a:ext cx="3385543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/repositories/user_repository.go</a:t>
            </a:r>
            <a:endParaRPr/>
          </a:p>
        </p:txBody>
      </p:sp>
      <p:sp>
        <p:nvSpPr>
          <p:cNvPr id="1072548279" name=""/>
          <p:cNvSpPr txBox="1"/>
          <p:nvPr/>
        </p:nvSpPr>
        <p:spPr bwMode="auto">
          <a:xfrm rot="0" flipH="0" flipV="0">
            <a:off x="442163" y="1066231"/>
            <a:ext cx="4892643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Весьма интересный подход, не так ли?</a:t>
            </a:r>
            <a:endParaRPr lang="ru-RU"/>
          </a:p>
          <a:p>
            <a:pPr>
              <a:defRPr/>
            </a:pPr>
            <a:r>
              <a:rPr lang="ru-RU"/>
              <a:t>Зачем нам интерфейс, потом какая то</a:t>
            </a:r>
            <a:endParaRPr lang="ru-RU"/>
          </a:p>
          <a:p>
            <a:pPr>
              <a:defRPr/>
            </a:pPr>
            <a:r>
              <a:rPr lang="ru-RU"/>
              <a:t>структура, а потом реализация методов</a:t>
            </a:r>
            <a:endParaRPr lang="ru-RU"/>
          </a:p>
          <a:p>
            <a:pPr>
              <a:defRPr/>
            </a:pPr>
            <a:r>
              <a:rPr lang="ru-RU"/>
              <a:t>интерфеса для этой структуры, если можно</a:t>
            </a:r>
            <a:endParaRPr lang="ru-RU"/>
          </a:p>
          <a:p>
            <a:pPr>
              <a:defRPr/>
            </a:pPr>
            <a:r>
              <a:rPr lang="ru-RU"/>
              <a:t>просто сделать структуру, без интерфейса?</a:t>
            </a:r>
            <a:endParaRPr/>
          </a:p>
        </p:txBody>
      </p:sp>
      <p:sp>
        <p:nvSpPr>
          <p:cNvPr id="124881401" name=""/>
          <p:cNvSpPr txBox="1"/>
          <p:nvPr/>
        </p:nvSpPr>
        <p:spPr bwMode="auto">
          <a:xfrm rot="0" flipH="0" flipV="0">
            <a:off x="555894" y="3429000"/>
            <a:ext cx="8857960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Этот подход называется </a:t>
            </a:r>
            <a:endParaRPr lang="ru-RU" sz="1800" b="0" i="1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Dependency Inversion </a:t>
            </a:r>
            <a:r>
              <a:rPr lang="ru-RU" i="0"/>
              <a:t>или </a:t>
            </a:r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Внедрение зависимости через интерфейс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является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частью принципов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SOLID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и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 (dependency injection,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внедрение зависимостей).</a:t>
            </a:r>
            <a:endParaRPr i="0"/>
          </a:p>
        </p:txBody>
      </p:sp>
      <p:graphicFrame>
        <p:nvGraphicFramePr>
          <p:cNvPr id="1681639984" name=""/>
          <p:cNvGraphicFramePr>
            <a:graphicFrameLocks xmlns:a="http://schemas.openxmlformats.org/drawingml/2006/main"/>
          </p:cNvGraphicFramePr>
          <p:nvPr/>
        </p:nvGraphicFramePr>
        <p:xfrm rot="0">
          <a:off x="2015732" y="4500302"/>
          <a:ext cx="8140699" cy="20243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Причина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Зачем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Тестирование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Можно подменять реализации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DI</a:t>
                      </a:r>
                      <a:r>
                        <a:rPr lang="ru-RU"/>
                        <a:t>-контейнеры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Интерфейс – естественный ключ для внедрения зависимостей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Слабая связанность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Зависим от абстракции, а не от конкретной реализации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81431" name=""/>
          <p:cNvSpPr txBox="1"/>
          <p:nvPr/>
        </p:nvSpPr>
        <p:spPr bwMode="auto">
          <a:xfrm rot="0" flipH="0" flipV="0">
            <a:off x="328429" y="230967"/>
            <a:ext cx="272195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</a:t>
            </a:r>
            <a:r>
              <a:rPr lang="en-US" b="0" i="1"/>
              <a:t>DI</a:t>
            </a:r>
            <a:endParaRPr b="0" i="1"/>
          </a:p>
        </p:txBody>
      </p:sp>
      <p:cxnSp>
        <p:nvCxnSpPr>
          <p:cNvPr id="770961941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1095941" name=""/>
          <p:cNvSpPr txBox="1"/>
          <p:nvPr/>
        </p:nvSpPr>
        <p:spPr bwMode="auto">
          <a:xfrm rot="0" flipH="0" flipV="0">
            <a:off x="911305" y="1052014"/>
            <a:ext cx="107768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Пример:</a:t>
            </a:r>
            <a:endParaRPr/>
          </a:p>
        </p:txBody>
      </p:sp>
      <p:pic>
        <p:nvPicPr>
          <p:cNvPr id="15808237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8430" y="1775283"/>
            <a:ext cx="7038580" cy="2599835"/>
          </a:xfrm>
          <a:prstGeom prst="rect">
            <a:avLst/>
          </a:prstGeom>
        </p:spPr>
      </p:pic>
      <p:sp>
        <p:nvSpPr>
          <p:cNvPr id="654920915" name=""/>
          <p:cNvSpPr txBox="1"/>
          <p:nvPr/>
        </p:nvSpPr>
        <p:spPr bwMode="auto">
          <a:xfrm rot="0" flipH="0" flipV="0">
            <a:off x="599997" y="4475099"/>
            <a:ext cx="11032543" cy="17377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Здесь нам не важна внутренняя</a:t>
            </a:r>
            <a:endParaRPr lang="ru-RU"/>
          </a:p>
          <a:p>
            <a:pPr>
              <a:defRPr/>
            </a:pPr>
            <a:r>
              <a:rPr lang="ru-RU"/>
              <a:t>реализация функции</a:t>
            </a:r>
            <a:r>
              <a:rPr lang="ru-RU"/>
              <a:t>, самое главное, что она есть!</a:t>
            </a:r>
            <a:endParaRPr lang="ru-RU"/>
          </a:p>
          <a:p>
            <a:pPr>
              <a:defRPr/>
            </a:pPr>
            <a:r>
              <a:rPr lang="ru-RU"/>
              <a:t>Поэтому в функцию </a:t>
            </a:r>
            <a:r>
              <a:rPr lang="en-US"/>
              <a:t>pay</a:t>
            </a:r>
            <a:r>
              <a:rPr lang="ru-RU"/>
              <a:t> мы можем передать или </a:t>
            </a:r>
            <a:r>
              <a:rPr lang="en-US"/>
              <a:t>CreditCardPaymentServic</a:t>
            </a:r>
            <a:r>
              <a:rPr lang="ru-RU"/>
              <a:t>, или </a:t>
            </a:r>
            <a:r>
              <a:rPr lang="en-US"/>
              <a:t>CashPaymentService</a:t>
            </a:r>
            <a:r>
              <a:rPr lang="ru-RU"/>
              <a:t> -</a:t>
            </a:r>
            <a:endParaRPr lang="ru-RU"/>
          </a:p>
          <a:p>
            <a:pPr>
              <a:defRPr/>
            </a:pPr>
            <a:r>
              <a:rPr lang="ru-RU"/>
              <a:t>нам без разницы!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Наглядное применение будет далее.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114700" name=""/>
          <p:cNvSpPr txBox="1"/>
          <p:nvPr/>
        </p:nvSpPr>
        <p:spPr bwMode="auto">
          <a:xfrm rot="0" flipH="0" flipV="0">
            <a:off x="328430" y="230967"/>
            <a:ext cx="356290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Миграции</a:t>
            </a:r>
            <a:endParaRPr b="0" i="1"/>
          </a:p>
        </p:txBody>
      </p:sp>
      <p:cxnSp>
        <p:nvCxnSpPr>
          <p:cNvPr id="83830019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36312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0596" y="824551"/>
            <a:ext cx="3629025" cy="523874"/>
          </a:xfrm>
          <a:prstGeom prst="rect">
            <a:avLst/>
          </a:prstGeom>
        </p:spPr>
      </p:pic>
      <p:pic>
        <p:nvPicPr>
          <p:cNvPr id="380402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74919" y="653955"/>
            <a:ext cx="6701132" cy="3056529"/>
          </a:xfrm>
          <a:prstGeom prst="rect">
            <a:avLst/>
          </a:prstGeom>
        </p:spPr>
      </p:pic>
      <p:sp>
        <p:nvSpPr>
          <p:cNvPr id="2135743941" name=""/>
          <p:cNvSpPr txBox="1"/>
          <p:nvPr/>
        </p:nvSpPr>
        <p:spPr bwMode="auto">
          <a:xfrm rot="0" flipH="0" flipV="0">
            <a:off x="44104" y="1432256"/>
            <a:ext cx="507692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год месяц день время_название миграции</a:t>
            </a:r>
            <a:r>
              <a:rPr lang="en-US"/>
              <a:t>.sql</a:t>
            </a:r>
            <a:endParaRPr/>
          </a:p>
        </p:txBody>
      </p:sp>
      <p:sp>
        <p:nvSpPr>
          <p:cNvPr id="518135012" name=""/>
          <p:cNvSpPr txBox="1"/>
          <p:nvPr/>
        </p:nvSpPr>
        <p:spPr bwMode="auto">
          <a:xfrm rot="0" flipH="0" flipV="0">
            <a:off x="693598" y="5397803"/>
            <a:ext cx="6212046" cy="64007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Миграция </a:t>
            </a:r>
            <a:r>
              <a:rPr lang="ru-RU"/>
              <a:t>- изменение базы данных (добавление строк, изменение колонок и т.п.)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284061" name=""/>
          <p:cNvSpPr txBox="1"/>
          <p:nvPr/>
        </p:nvSpPr>
        <p:spPr bwMode="auto">
          <a:xfrm rot="0" flipH="0" flipV="0">
            <a:off x="328430" y="230967"/>
            <a:ext cx="344168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Сервисы</a:t>
            </a:r>
            <a:endParaRPr b="0" i="1"/>
          </a:p>
        </p:txBody>
      </p:sp>
      <p:cxnSp>
        <p:nvCxnSpPr>
          <p:cNvPr id="76688875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1358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767686"/>
            <a:ext cx="2247899" cy="628649"/>
          </a:xfrm>
          <a:prstGeom prst="rect">
            <a:avLst/>
          </a:prstGeom>
        </p:spPr>
      </p:pic>
      <p:pic>
        <p:nvPicPr>
          <p:cNvPr id="15425724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18879" y="767685"/>
            <a:ext cx="7086600" cy="2400300"/>
          </a:xfrm>
          <a:prstGeom prst="rect">
            <a:avLst/>
          </a:prstGeom>
        </p:spPr>
      </p:pic>
      <p:sp>
        <p:nvSpPr>
          <p:cNvPr id="1012040560" name=""/>
          <p:cNvSpPr txBox="1"/>
          <p:nvPr/>
        </p:nvSpPr>
        <p:spPr bwMode="auto">
          <a:xfrm rot="0" flipH="0" flipV="0">
            <a:off x="3427610" y="1082010"/>
            <a:ext cx="14032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/services.go</a:t>
            </a:r>
            <a:endParaRPr/>
          </a:p>
        </p:txBody>
      </p:sp>
      <p:sp>
        <p:nvSpPr>
          <p:cNvPr id="2070738386" name=""/>
          <p:cNvSpPr txBox="1"/>
          <p:nvPr/>
        </p:nvSpPr>
        <p:spPr bwMode="auto">
          <a:xfrm rot="0" flipH="0" flipV="0">
            <a:off x="541678" y="3753133"/>
            <a:ext cx="10825935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Тут мы создаем инстанс репозитория и сервиса, после чего передаем уже созданный</a:t>
            </a:r>
            <a:endParaRPr lang="ru-RU"/>
          </a:p>
          <a:p>
            <a:pPr>
              <a:defRPr/>
            </a:pPr>
            <a:r>
              <a:rPr lang="ru-RU"/>
              <a:t>репозиторий в реализацию, добавляем в состояние (хранилище) приложения.</a:t>
            </a:r>
            <a:endParaRPr lang="ru-RU"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Получится такая ситуация, что и репозиторий, и сервис будут созданы ТОЛЬКО ОДИН РАЗ и будут</a:t>
            </a:r>
            <a:endParaRPr lang="ru-RU"/>
          </a:p>
          <a:p>
            <a:pPr>
              <a:defRPr/>
            </a:pPr>
            <a:r>
              <a:rPr lang="ru-RU"/>
              <a:t>переиспользоваться без потерь, что очень </a:t>
            </a:r>
            <a:r>
              <a:rPr lang="ru-RU"/>
              <a:t>даже хорошо.</a:t>
            </a:r>
            <a:r>
              <a:rPr lang="ru-RU"/>
              <a:t> </a:t>
            </a:r>
            <a:r>
              <a:rPr lang="ru-RU" i="1"/>
              <a:t>(пример позже)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803661" name=""/>
          <p:cNvSpPr txBox="1"/>
          <p:nvPr/>
        </p:nvSpPr>
        <p:spPr bwMode="auto">
          <a:xfrm rot="0" flipH="0" flipV="0">
            <a:off x="328430" y="230967"/>
            <a:ext cx="344168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Сервисы</a:t>
            </a:r>
            <a:endParaRPr b="0" i="1"/>
          </a:p>
        </p:txBody>
      </p:sp>
      <p:cxnSp>
        <p:nvCxnSpPr>
          <p:cNvPr id="11821395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534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767686"/>
            <a:ext cx="2247899" cy="628649"/>
          </a:xfrm>
          <a:prstGeom prst="rect">
            <a:avLst/>
          </a:prstGeom>
        </p:spPr>
      </p:pic>
      <p:pic>
        <p:nvPicPr>
          <p:cNvPr id="9365636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2164" y="1634887"/>
            <a:ext cx="6555223" cy="3832451"/>
          </a:xfrm>
          <a:prstGeom prst="rect">
            <a:avLst/>
          </a:prstGeom>
        </p:spPr>
      </p:pic>
      <p:sp>
        <p:nvSpPr>
          <p:cNvPr id="2053129474" name=""/>
          <p:cNvSpPr txBox="1"/>
          <p:nvPr/>
        </p:nvSpPr>
        <p:spPr bwMode="auto">
          <a:xfrm rot="0" flipH="0" flipV="0">
            <a:off x="2219215" y="5754577"/>
            <a:ext cx="186081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/user_service.go</a:t>
            </a:r>
            <a:endParaRPr/>
          </a:p>
        </p:txBody>
      </p:sp>
      <p:sp>
        <p:nvSpPr>
          <p:cNvPr id="993019104" name=""/>
          <p:cNvSpPr txBox="1"/>
          <p:nvPr/>
        </p:nvSpPr>
        <p:spPr bwMode="auto">
          <a:xfrm rot="0" flipH="0" flipV="0">
            <a:off x="6872322" y="767686"/>
            <a:ext cx="5255737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Каждый сервис имеет</a:t>
            </a:r>
            <a:r>
              <a:rPr lang="en-US"/>
              <a:t> </a:t>
            </a:r>
            <a:r>
              <a:rPr lang="ru-RU"/>
              <a:t>СЕРВИС_</a:t>
            </a:r>
            <a:r>
              <a:rPr lang="en-US"/>
              <a:t>SERVICE_KEY</a:t>
            </a:r>
            <a:endParaRPr lang="en-US"/>
          </a:p>
          <a:p>
            <a:pPr>
              <a:defRPr/>
            </a:pPr>
            <a:r>
              <a:rPr lang="ru-RU"/>
              <a:t>с уникальным названием сервиса (для </a:t>
            </a:r>
            <a:r>
              <a:rPr lang="en-US"/>
              <a:t>DI</a:t>
            </a:r>
            <a:r>
              <a:rPr lang="ru-RU"/>
              <a:t>)</a:t>
            </a:r>
            <a:endParaRPr lang="ru-RU"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Ну и та же чехарда с интерфейсом и </a:t>
            </a:r>
            <a:endParaRPr lang="ru-RU"/>
          </a:p>
          <a:p>
            <a:pPr>
              <a:defRPr/>
            </a:pPr>
            <a:r>
              <a:rPr lang="ru-RU"/>
              <a:t>имплементацией</a:t>
            </a:r>
            <a:endParaRPr/>
          </a:p>
        </p:txBody>
      </p:sp>
      <p:sp>
        <p:nvSpPr>
          <p:cNvPr id="1700225981" name=""/>
          <p:cNvSpPr txBox="1"/>
          <p:nvPr/>
        </p:nvSpPr>
        <p:spPr bwMode="auto">
          <a:xfrm rot="0" flipH="0" flipV="0">
            <a:off x="7296285" y="2749341"/>
            <a:ext cx="4407808" cy="1737720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Сервис </a:t>
            </a:r>
            <a:r>
              <a:rPr lang="ru-RU"/>
              <a:t>- интерфейс и его стандартная имплементация для связывания контроллера с репозиторием.</a:t>
            </a:r>
            <a:endParaRPr lang="ru-RU"/>
          </a:p>
          <a:p>
            <a:pPr algn="l">
              <a:defRPr/>
            </a:pPr>
            <a:r>
              <a:rPr lang="ru-RU"/>
              <a:t>Он занимается обработкой входящих данных, передает их в репозиторий и возвращает результат</a:t>
            </a:r>
            <a:endParaRPr lang="ru-RU"/>
          </a:p>
        </p:txBody>
      </p:sp>
      <p:sp>
        <p:nvSpPr>
          <p:cNvPr id="479284174" name=""/>
          <p:cNvSpPr txBox="1"/>
          <p:nvPr/>
        </p:nvSpPr>
        <p:spPr bwMode="auto">
          <a:xfrm rot="0" flipH="0" flipV="0">
            <a:off x="7296285" y="4705634"/>
            <a:ext cx="4369817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Связь с репозиторием осуществляется</a:t>
            </a:r>
            <a:endParaRPr lang="ru-RU"/>
          </a:p>
          <a:p>
            <a:pPr>
              <a:defRPr/>
            </a:pPr>
            <a:r>
              <a:rPr lang="ru-RU"/>
              <a:t>через поле</a:t>
            </a:r>
            <a:r>
              <a:rPr lang="en-US"/>
              <a:t> repo</a:t>
            </a:r>
            <a:r>
              <a:rPr lang="ru-RU"/>
              <a:t> в</a:t>
            </a:r>
            <a:r>
              <a:rPr lang="ru-RU"/>
              <a:t> имплементации</a:t>
            </a:r>
            <a:endParaRPr/>
          </a:p>
        </p:txBody>
      </p:sp>
      <p:cxnSp>
        <p:nvCxnSpPr>
          <p:cNvPr id="1983648975" name=""/>
          <p:cNvCxnSpPr>
            <a:stCxn id="479284174" idx="1"/>
          </p:cNvCxnSpPr>
          <p:nvPr/>
        </p:nvCxnSpPr>
        <p:spPr bwMode="auto">
          <a:xfrm rot="10799989" flipH="0" flipV="0">
            <a:off x="3042547" y="4121394"/>
            <a:ext cx="4253737" cy="904460"/>
          </a:xfrm>
          <a:prstGeom prst="line">
            <a:avLst/>
          </a:prstGeom>
          <a:ln w="19049" cap="flat" cmpd="sng" algn="ctr">
            <a:solidFill>
              <a:srgbClr val="C0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080112" name=""/>
          <p:cNvSpPr txBox="1"/>
          <p:nvPr/>
        </p:nvSpPr>
        <p:spPr bwMode="auto">
          <a:xfrm rot="0" flipH="0" flipV="0">
            <a:off x="328430" y="230967"/>
            <a:ext cx="290155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lang="ru-RU" b="0" i="1"/>
              <a:t>. Веб</a:t>
            </a:r>
            <a:endParaRPr b="0" i="1"/>
          </a:p>
        </p:txBody>
      </p:sp>
      <p:cxnSp>
        <p:nvCxnSpPr>
          <p:cNvPr id="1161397231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89291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810335"/>
            <a:ext cx="2362199" cy="1285875"/>
          </a:xfrm>
          <a:prstGeom prst="rect">
            <a:avLst/>
          </a:prstGeom>
        </p:spPr>
      </p:pic>
      <p:pic>
        <p:nvPicPr>
          <p:cNvPr id="7135651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753469"/>
            <a:ext cx="4579141" cy="2433816"/>
          </a:xfrm>
          <a:prstGeom prst="rect">
            <a:avLst/>
          </a:prstGeom>
        </p:spPr>
      </p:pic>
      <p:sp>
        <p:nvSpPr>
          <p:cNvPr id="1534647332" name=""/>
          <p:cNvSpPr txBox="1"/>
          <p:nvPr/>
        </p:nvSpPr>
        <p:spPr bwMode="auto">
          <a:xfrm rot="0" flipH="0" flipV="0">
            <a:off x="4095783" y="769438"/>
            <a:ext cx="183580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/dto/user_dto.go</a:t>
            </a:r>
            <a:endParaRPr/>
          </a:p>
        </p:txBody>
      </p:sp>
      <p:sp>
        <p:nvSpPr>
          <p:cNvPr id="225821237" name=""/>
          <p:cNvSpPr txBox="1"/>
          <p:nvPr/>
        </p:nvSpPr>
        <p:spPr bwMode="auto">
          <a:xfrm rot="0" flipH="0" flipV="0">
            <a:off x="484813" y="3795782"/>
            <a:ext cx="5952692" cy="2012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Пример: мы получаем пользователя из бд и хотим</a:t>
            </a:r>
            <a:endParaRPr lang="ru-RU"/>
          </a:p>
          <a:p>
            <a:pPr>
              <a:defRPr/>
            </a:pPr>
            <a:r>
              <a:rPr lang="ru-RU"/>
              <a:t>его вернуть в ответе, но мы же не можем возвращать</a:t>
            </a:r>
            <a:endParaRPr lang="ru-RU"/>
          </a:p>
          <a:p>
            <a:pPr>
              <a:defRPr/>
            </a:pPr>
            <a:r>
              <a:rPr lang="ru-RU"/>
              <a:t>пароль пользователя на запрос простого описания.</a:t>
            </a:r>
            <a:endParaRPr lang="ru-RU"/>
          </a:p>
          <a:p>
            <a:pPr>
              <a:defRPr/>
            </a:pPr>
            <a:r>
              <a:rPr lang="en-US"/>
              <a:t>DTO</a:t>
            </a:r>
            <a:r>
              <a:rPr lang="ru-RU"/>
              <a:t>, по своей сути, копия модели, только без</a:t>
            </a:r>
            <a:endParaRPr lang="ru-RU"/>
          </a:p>
          <a:p>
            <a:pPr>
              <a:defRPr/>
            </a:pPr>
            <a:r>
              <a:rPr lang="ru-RU"/>
              <a:t>«ненужных» полей, но ее уникальность в том, что она</a:t>
            </a:r>
            <a:endParaRPr lang="ru-RU"/>
          </a:p>
          <a:p>
            <a:pPr>
              <a:defRPr/>
            </a:pPr>
            <a:r>
              <a:rPr lang="ru-RU"/>
              <a:t>редко изменяется даже при частом изменений</a:t>
            </a:r>
            <a:endParaRPr lang="ru-RU"/>
          </a:p>
          <a:p>
            <a:pPr>
              <a:defRPr/>
            </a:pPr>
            <a:r>
              <a:rPr lang="ru-RU"/>
              <a:t>модели.</a:t>
            </a:r>
            <a:endParaRPr/>
          </a:p>
        </p:txBody>
      </p:sp>
      <p:sp>
        <p:nvSpPr>
          <p:cNvPr id="2105180386" name=""/>
          <p:cNvSpPr txBox="1"/>
          <p:nvPr/>
        </p:nvSpPr>
        <p:spPr bwMode="auto">
          <a:xfrm rot="0" flipH="0" flipV="0">
            <a:off x="484813" y="2867244"/>
            <a:ext cx="5402796" cy="640079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ДТО(дэтэошка)</a:t>
            </a:r>
            <a:r>
              <a:rPr lang="ru-RU"/>
              <a:t> - объект для передачи данных в контроллеры (и некоторые функции)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4985" name=""/>
          <p:cNvSpPr txBox="1"/>
          <p:nvPr/>
        </p:nvSpPr>
        <p:spPr bwMode="auto">
          <a:xfrm rot="0" flipH="0" flipV="0">
            <a:off x="328430" y="230967"/>
            <a:ext cx="290155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lang="ru-RU" b="0" i="1"/>
              <a:t>. Веб</a:t>
            </a:r>
            <a:endParaRPr b="0" i="1"/>
          </a:p>
        </p:txBody>
      </p:sp>
      <p:cxnSp>
        <p:nvCxnSpPr>
          <p:cNvPr id="4141213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77928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810335"/>
            <a:ext cx="2362199" cy="1285875"/>
          </a:xfrm>
          <a:prstGeom prst="rect">
            <a:avLst/>
          </a:prstGeom>
        </p:spPr>
      </p:pic>
      <p:pic>
        <p:nvPicPr>
          <p:cNvPr id="109114135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804813" y="597087"/>
            <a:ext cx="3939402" cy="3541538"/>
          </a:xfrm>
          <a:prstGeom prst="rect">
            <a:avLst/>
          </a:prstGeom>
        </p:spPr>
      </p:pic>
      <p:pic>
        <p:nvPicPr>
          <p:cNvPr id="122975482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819029" y="4045395"/>
            <a:ext cx="3925186" cy="2685315"/>
          </a:xfrm>
          <a:prstGeom prst="rect">
            <a:avLst/>
          </a:prstGeom>
        </p:spPr>
      </p:pic>
      <p:sp>
        <p:nvSpPr>
          <p:cNvPr id="2014704617" name=""/>
          <p:cNvSpPr txBox="1"/>
          <p:nvPr/>
        </p:nvSpPr>
        <p:spPr bwMode="auto">
          <a:xfrm rot="0" flipH="0" flipV="0">
            <a:off x="610202" y="2557637"/>
            <a:ext cx="261837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i="1"/>
              <a:t>Что такое </a:t>
            </a:r>
            <a:r>
              <a:rPr lang="en-US" i="1"/>
              <a:t>Response?</a:t>
            </a:r>
            <a:endParaRPr/>
          </a:p>
        </p:txBody>
      </p:sp>
      <p:sp>
        <p:nvSpPr>
          <p:cNvPr id="1977514223" name=""/>
          <p:cNvSpPr txBox="1"/>
          <p:nvPr/>
        </p:nvSpPr>
        <p:spPr bwMode="auto">
          <a:xfrm rot="0" flipH="0" flipV="0">
            <a:off x="610202" y="2923757"/>
            <a:ext cx="6614947" cy="22863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 проблемах было указано отсутствие единой</a:t>
            </a:r>
            <a:endParaRPr lang="ru-RU"/>
          </a:p>
          <a:p>
            <a:pPr>
              <a:defRPr/>
            </a:pPr>
            <a:r>
              <a:rPr lang="ru-RU"/>
              <a:t>архитектуры, а </a:t>
            </a:r>
            <a:r>
              <a:rPr lang="ru-RU"/>
              <a:t>это ее решение - единый формат ответа. Не</a:t>
            </a:r>
            <a:endParaRPr lang="ru-RU"/>
          </a:p>
          <a:p>
            <a:pPr>
              <a:defRPr/>
            </a:pPr>
            <a:r>
              <a:rPr lang="ru-RU"/>
              <a:t>зависимо от того, что ендпоинт возвращает, он всегда</a:t>
            </a:r>
            <a:endParaRPr lang="ru-RU"/>
          </a:p>
          <a:p>
            <a:pPr>
              <a:defRPr/>
            </a:pPr>
            <a:r>
              <a:rPr lang="ru-RU"/>
              <a:t>возвращает </a:t>
            </a:r>
            <a:r>
              <a:rPr lang="en-US"/>
              <a:t>Response</a:t>
            </a:r>
            <a:r>
              <a:rPr lang="ru-RU"/>
              <a:t> в теле ответа.</a:t>
            </a:r>
            <a:endParaRPr lang="ru-RU"/>
          </a:p>
          <a:p>
            <a:pPr>
              <a:defRPr/>
            </a:pPr>
            <a:r>
              <a:rPr lang="ru-RU"/>
              <a:t>Нужно строку = </a:t>
            </a:r>
            <a:r>
              <a:rPr lang="en-US"/>
              <a:t>Data: string</a:t>
            </a:r>
            <a:endParaRPr lang="en-US"/>
          </a:p>
          <a:p>
            <a:pPr>
              <a:defRPr/>
            </a:pPr>
            <a:r>
              <a:rPr lang="ru-RU"/>
              <a:t>Нужно объект = </a:t>
            </a:r>
            <a:r>
              <a:rPr lang="en-US"/>
              <a:t>Data: fiber.Map</a:t>
            </a:r>
            <a:endParaRPr lang="en-US"/>
          </a:p>
          <a:p>
            <a:pPr>
              <a:defRPr/>
            </a:pPr>
            <a:r>
              <a:rPr lang="ru-RU"/>
              <a:t>Нужно ничего = </a:t>
            </a:r>
            <a:r>
              <a:rPr lang="en-US"/>
              <a:t>Data: nil (null)</a:t>
            </a:r>
            <a:r>
              <a:rPr lang="ru-RU"/>
              <a:t> - </a:t>
            </a:r>
            <a:r>
              <a:rPr lang="ru-RU" i="1"/>
              <a:t>не рекомендовано</a:t>
            </a:r>
            <a:endParaRPr lang="en-US"/>
          </a:p>
          <a:p>
            <a:pPr>
              <a:defRPr/>
            </a:pPr>
            <a:r>
              <a:rPr lang="ru-RU"/>
              <a:t>И т.п.</a:t>
            </a:r>
            <a:endParaRPr lang="ru-RU"/>
          </a:p>
        </p:txBody>
      </p:sp>
      <p:sp>
        <p:nvSpPr>
          <p:cNvPr id="1983654096" name=""/>
          <p:cNvSpPr txBox="1"/>
          <p:nvPr/>
        </p:nvSpPr>
        <p:spPr bwMode="auto">
          <a:xfrm rot="0" flipH="0" flipV="0">
            <a:off x="6157162" y="810334"/>
            <a:ext cx="150529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/response.go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725581" name=""/>
          <p:cNvSpPr txBox="1"/>
          <p:nvPr/>
        </p:nvSpPr>
        <p:spPr bwMode="auto">
          <a:xfrm rot="0" flipH="0" flipV="0">
            <a:off x="328430" y="230967"/>
            <a:ext cx="1732335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Терминология</a:t>
            </a:r>
            <a:endParaRPr b="0" i="1"/>
          </a:p>
        </p:txBody>
      </p:sp>
      <p:cxnSp>
        <p:nvCxnSpPr>
          <p:cNvPr id="1937987111" name=""/>
          <p:cNvCxnSpPr/>
          <p:nvPr/>
        </p:nvCxnSpPr>
        <p:spPr bwMode="auto">
          <a:xfrm flipH="0" flipV="0">
            <a:off x="-69624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166092" name=""/>
          <p:cNvSpPr txBox="1"/>
          <p:nvPr/>
        </p:nvSpPr>
        <p:spPr bwMode="auto">
          <a:xfrm rot="0" flipH="0" flipV="0">
            <a:off x="3058625" y="2498450"/>
            <a:ext cx="6055993" cy="1463400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>
                <a:solidFill>
                  <a:srgbClr val="FFC000"/>
                </a:solidFill>
              </a:rPr>
              <a:t>Эндпоинт</a:t>
            </a:r>
            <a:r>
              <a:rPr lang="ru-RU" b="1"/>
              <a:t> </a:t>
            </a:r>
            <a:r>
              <a:rPr lang="ru-RU"/>
              <a:t>- конечный адрес, на который отправляется запрос</a:t>
            </a:r>
            <a:endParaRPr lang="ru-RU"/>
          </a:p>
          <a:p>
            <a:pPr algn="l">
              <a:defRPr/>
            </a:pPr>
            <a:r>
              <a:rPr lang="ru-RU" b="1">
                <a:solidFill>
                  <a:srgbClr val="00B0F0"/>
                </a:solidFill>
              </a:rPr>
              <a:t>Группа</a:t>
            </a:r>
            <a:r>
              <a:rPr lang="ru-RU" b="1"/>
              <a:t> </a:t>
            </a:r>
            <a:r>
              <a:rPr lang="ru-RU"/>
              <a:t>- совокупность эндпоинтов</a:t>
            </a:r>
            <a:endParaRPr lang="ru-RU"/>
          </a:p>
          <a:p>
            <a:pPr algn="l">
              <a:defRPr/>
            </a:pPr>
            <a:r>
              <a:rPr lang="ru-RU" b="1">
                <a:solidFill>
                  <a:srgbClr val="92D050"/>
                </a:solidFill>
              </a:rPr>
              <a:t>Хэндлер</a:t>
            </a:r>
            <a:r>
              <a:rPr lang="ru-RU" b="1"/>
              <a:t> </a:t>
            </a:r>
            <a:r>
              <a:rPr lang="ru-RU"/>
              <a:t>- функция, которая обрабатывает запрос на определенный эндпоинт</a:t>
            </a:r>
            <a:endParaRPr lang="ru-RU"/>
          </a:p>
        </p:txBody>
      </p:sp>
      <p:sp>
        <p:nvSpPr>
          <p:cNvPr id="1245619942" name=""/>
          <p:cNvSpPr txBox="1"/>
          <p:nvPr/>
        </p:nvSpPr>
        <p:spPr bwMode="auto">
          <a:xfrm rot="0" flipH="0" flipV="0">
            <a:off x="1967329" y="1052014"/>
            <a:ext cx="8237506" cy="5185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/>
              <a:t>/api/</a:t>
            </a:r>
            <a:r>
              <a:rPr sz="2800">
                <a:solidFill>
                  <a:srgbClr val="00B0F0"/>
                </a:solidFill>
              </a:rPr>
              <a:t>users</a:t>
            </a:r>
            <a:r>
              <a:rPr sz="2800"/>
              <a:t>/</a:t>
            </a:r>
            <a:r>
              <a:rPr sz="2800">
                <a:solidFill>
                  <a:srgbClr val="FFC000"/>
                </a:solidFill>
              </a:rPr>
              <a:t>create</a:t>
            </a:r>
            <a:r>
              <a:rPr sz="2800"/>
              <a:t> -&gt; </a:t>
            </a:r>
            <a:r>
              <a:rPr sz="2800">
                <a:solidFill>
                  <a:srgbClr val="92D050"/>
                </a:solidFill>
              </a:rPr>
              <a:t>handleCreateUser(...) error {...}</a:t>
            </a:r>
            <a:endParaRPr sz="2800"/>
          </a:p>
        </p:txBody>
      </p:sp>
      <p:sp>
        <p:nvSpPr>
          <p:cNvPr id="241939129" name=""/>
          <p:cNvSpPr txBox="1"/>
          <p:nvPr/>
        </p:nvSpPr>
        <p:spPr bwMode="auto">
          <a:xfrm rot="0" flipH="0" flipV="0">
            <a:off x="3037968" y="4519730"/>
            <a:ext cx="6116421" cy="1463400"/>
          </a:xfrm>
          <a:prstGeom prst="rect">
            <a:avLst/>
          </a:prstGeom>
          <a:noFill/>
          <a:ln w="19049">
            <a:solidFill>
              <a:srgbClr val="92D050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Контроллер </a:t>
            </a:r>
            <a:r>
              <a:rPr lang="ru-RU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совокупность хэндлеров, объединенных одной группой</a:t>
            </a:r>
            <a:r>
              <a:rPr lang="ru-RU"/>
              <a:t> (пр: контроллер пользователей</a:t>
            </a:r>
            <a:endParaRPr lang="ru-RU"/>
          </a:p>
          <a:p>
            <a:pPr algn="l">
              <a:defRPr/>
            </a:pPr>
            <a:r>
              <a:rPr lang="ru-RU"/>
              <a:t>для всех </a:t>
            </a:r>
            <a:r>
              <a:rPr lang="en-US"/>
              <a:t>/api/users/**</a:t>
            </a:r>
            <a:r>
              <a:rPr lang="ru-RU"/>
              <a:t>)</a:t>
            </a:r>
            <a:r>
              <a:rPr lang="ru-RU"/>
              <a:t>. </a:t>
            </a:r>
            <a:endParaRPr lang="ru-RU"/>
          </a:p>
          <a:p>
            <a:pPr algn="l">
              <a:defRPr/>
            </a:pPr>
            <a:r>
              <a:rPr lang="ru-RU"/>
              <a:t>Принимает запрос, передает его в сервис, возвращает ответ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44570" name=""/>
          <p:cNvSpPr txBox="1"/>
          <p:nvPr/>
        </p:nvSpPr>
        <p:spPr bwMode="auto">
          <a:xfrm rot="0" flipH="0" flipV="0">
            <a:off x="328430" y="230967"/>
            <a:ext cx="290155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бэкенда. Веб</a:t>
            </a:r>
            <a:endParaRPr b="0" i="1"/>
          </a:p>
        </p:txBody>
      </p:sp>
      <p:cxnSp>
        <p:nvCxnSpPr>
          <p:cNvPr id="390404597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44466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810335"/>
            <a:ext cx="2362199" cy="1285875"/>
          </a:xfrm>
          <a:prstGeom prst="rect">
            <a:avLst/>
          </a:prstGeom>
        </p:spPr>
      </p:pic>
      <p:pic>
        <p:nvPicPr>
          <p:cNvPr id="1477822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2164" y="2654963"/>
            <a:ext cx="5062499" cy="3613195"/>
          </a:xfrm>
          <a:prstGeom prst="rect">
            <a:avLst/>
          </a:prstGeom>
        </p:spPr>
      </p:pic>
      <p:sp>
        <p:nvSpPr>
          <p:cNvPr id="862337215" name=""/>
          <p:cNvSpPr txBox="1"/>
          <p:nvPr/>
        </p:nvSpPr>
        <p:spPr bwMode="auto">
          <a:xfrm rot="0" flipH="0" flipV="0">
            <a:off x="1497665" y="6379663"/>
            <a:ext cx="207690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/user_controller.go</a:t>
            </a:r>
            <a:endParaRPr/>
          </a:p>
        </p:txBody>
      </p:sp>
      <p:pic>
        <p:nvPicPr>
          <p:cNvPr id="140519253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682051" y="597088"/>
            <a:ext cx="3185932" cy="1632507"/>
          </a:xfrm>
          <a:prstGeom prst="rect">
            <a:avLst/>
          </a:prstGeom>
        </p:spPr>
      </p:pic>
      <p:sp>
        <p:nvSpPr>
          <p:cNvPr id="629065824" name=""/>
          <p:cNvSpPr txBox="1"/>
          <p:nvPr/>
        </p:nvSpPr>
        <p:spPr bwMode="auto">
          <a:xfrm rot="0" flipH="0" flipV="0">
            <a:off x="2761308" y="753468"/>
            <a:ext cx="98425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/web.go</a:t>
            </a:r>
            <a:endParaRPr/>
          </a:p>
        </p:txBody>
      </p:sp>
      <p:sp>
        <p:nvSpPr>
          <p:cNvPr id="1137911319" name=""/>
          <p:cNvSpPr txBox="1"/>
          <p:nvPr/>
        </p:nvSpPr>
        <p:spPr bwMode="auto">
          <a:xfrm rot="0" flipH="0" flipV="0">
            <a:off x="7322910" y="924067"/>
            <a:ext cx="4591598" cy="2012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Про </a:t>
            </a:r>
            <a:r>
              <a:rPr lang="en-US"/>
              <a:t>setupUserController:</a:t>
            </a:r>
            <a:endParaRPr lang="en-US"/>
          </a:p>
          <a:p>
            <a:pPr>
              <a:defRPr/>
            </a:pPr>
            <a:r>
              <a:rPr lang="ru-RU"/>
              <a:t>Это </a:t>
            </a:r>
            <a:r>
              <a:rPr lang="en-US"/>
              <a:t>Setup</a:t>
            </a:r>
            <a:r>
              <a:rPr lang="ru-RU"/>
              <a:t>-функция, принимает в себя</a:t>
            </a:r>
            <a:endParaRPr lang="ru-RU"/>
          </a:p>
          <a:p>
            <a:pPr>
              <a:defRPr/>
            </a:pPr>
            <a:r>
              <a:rPr lang="en-US"/>
              <a:t>fiber.Router</a:t>
            </a:r>
            <a:r>
              <a:rPr lang="ru-RU"/>
              <a:t> - роутер именно для группы.</a:t>
            </a:r>
            <a:endParaRPr lang="ru-RU"/>
          </a:p>
          <a:p>
            <a:pPr>
              <a:defRPr/>
            </a:pPr>
            <a:r>
              <a:rPr lang="ru-RU"/>
              <a:t>В </a:t>
            </a:r>
            <a:r>
              <a:rPr lang="en-US"/>
              <a:t>web.go</a:t>
            </a:r>
            <a:r>
              <a:rPr lang="ru-RU"/>
              <a:t> видно, что мы сначала создаем</a:t>
            </a:r>
            <a:endParaRPr lang="ru-RU"/>
          </a:p>
          <a:p>
            <a:pPr>
              <a:defRPr/>
            </a:pPr>
            <a:r>
              <a:rPr lang="ru-RU"/>
              <a:t>группу </a:t>
            </a:r>
            <a:r>
              <a:rPr lang="en-US"/>
              <a:t>users (/api/users)</a:t>
            </a:r>
            <a:r>
              <a:rPr lang="ru-RU"/>
              <a:t>, а потом ее</a:t>
            </a:r>
            <a:endParaRPr lang="ru-RU"/>
          </a:p>
          <a:p>
            <a:pPr>
              <a:defRPr/>
            </a:pPr>
            <a:r>
              <a:rPr lang="ru-RU"/>
              <a:t>передаем в </a:t>
            </a:r>
            <a:r>
              <a:rPr lang="en-US"/>
              <a:t>setupUserController</a:t>
            </a:r>
            <a:r>
              <a:rPr lang="ru-RU"/>
              <a:t>. Таким</a:t>
            </a:r>
            <a:endParaRPr lang="ru-RU"/>
          </a:p>
          <a:p>
            <a:pPr>
              <a:defRPr/>
            </a:pPr>
            <a:r>
              <a:rPr lang="ru-RU"/>
              <a:t>образом получаем вот это.</a:t>
            </a:r>
            <a:endParaRPr/>
          </a:p>
        </p:txBody>
      </p:sp>
      <p:sp>
        <p:nvSpPr>
          <p:cNvPr id="380515051" name=""/>
          <p:cNvSpPr txBox="1"/>
          <p:nvPr/>
        </p:nvSpPr>
        <p:spPr bwMode="auto">
          <a:xfrm rot="0" flipH="0" flipV="0">
            <a:off x="5688022" y="3841939"/>
            <a:ext cx="6495845" cy="17377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Вот тут и играет наш </a:t>
            </a:r>
            <a:r>
              <a:rPr lang="en-US"/>
              <a:t>DI</a:t>
            </a:r>
            <a:r>
              <a:rPr lang="ru-RU"/>
              <a:t> и танцы с интерфейсами.</a:t>
            </a:r>
            <a:endParaRPr lang="ru-RU"/>
          </a:p>
          <a:p>
            <a:pPr>
              <a:defRPr/>
            </a:pPr>
            <a:r>
              <a:rPr lang="ru-RU"/>
              <a:t>Мы получаем сервис пользователя, но не структуру</a:t>
            </a:r>
            <a:endParaRPr lang="ru-RU"/>
          </a:p>
          <a:p>
            <a:pPr>
              <a:defRPr/>
            </a:pPr>
            <a:r>
              <a:rPr lang="ru-RU"/>
              <a:t>(</a:t>
            </a:r>
            <a:r>
              <a:rPr lang="en-US"/>
              <a:t>UserServiceImpl</a:t>
            </a:r>
            <a:r>
              <a:rPr lang="ru-RU"/>
              <a:t>), а ИНТЕРФЕЙС.</a:t>
            </a:r>
            <a:endParaRPr lang="ru-RU"/>
          </a:p>
          <a:p>
            <a:pPr>
              <a:defRPr/>
            </a:pPr>
            <a:r>
              <a:rPr lang="ru-RU"/>
              <a:t>Здесь нам не важна имплементация </a:t>
            </a:r>
            <a:endParaRPr lang="ru-RU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UserServiceImpl</a:t>
            </a:r>
            <a:r>
              <a:rPr lang="ru-RU"/>
              <a:t>1 </a:t>
            </a:r>
            <a:r>
              <a:rPr lang="ru-RU"/>
              <a:t>или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UserServiceImpl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/>
              <a:t> - в этом и прелесть.</a:t>
            </a:r>
            <a:endParaRPr lang="ru-RU"/>
          </a:p>
          <a:p>
            <a:pPr>
              <a:defRPr/>
            </a:pPr>
            <a:r>
              <a:rPr lang="ru-RU"/>
              <a:t>Пример</a:t>
            </a:r>
            <a:r>
              <a:rPr lang="en-US"/>
              <a:t> </a:t>
            </a:r>
            <a:r>
              <a:rPr lang="ru-RU"/>
              <a:t>далее</a:t>
            </a:r>
            <a:endParaRPr/>
          </a:p>
        </p:txBody>
      </p:sp>
      <p:cxnSp>
        <p:nvCxnSpPr>
          <p:cNvPr id="1274006151" name=""/>
          <p:cNvCxnSpPr>
            <a:stCxn id="380515051" idx="1"/>
          </p:cNvCxnSpPr>
          <p:nvPr/>
        </p:nvCxnSpPr>
        <p:spPr bwMode="auto">
          <a:xfrm rot="10799989" flipH="0" flipV="1">
            <a:off x="4280596" y="4024999"/>
            <a:ext cx="1407425" cy="225709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794467" name=""/>
          <p:cNvSpPr txBox="1"/>
          <p:nvPr/>
        </p:nvSpPr>
        <p:spPr bwMode="auto">
          <a:xfrm rot="0" flipH="0" flipV="0">
            <a:off x="328430" y="230967"/>
            <a:ext cx="290155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lang="ru-RU" b="0" i="1"/>
              <a:t>. Веб</a:t>
            </a:r>
            <a:endParaRPr b="0" i="1"/>
          </a:p>
        </p:txBody>
      </p:sp>
      <p:cxnSp>
        <p:nvCxnSpPr>
          <p:cNvPr id="950884712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45717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164" y="810335"/>
            <a:ext cx="2362199" cy="1285875"/>
          </a:xfrm>
          <a:prstGeom prst="rect">
            <a:avLst/>
          </a:prstGeom>
        </p:spPr>
      </p:pic>
      <p:sp>
        <p:nvSpPr>
          <p:cNvPr id="1597604376" name=""/>
          <p:cNvSpPr txBox="1"/>
          <p:nvPr/>
        </p:nvSpPr>
        <p:spPr bwMode="auto">
          <a:xfrm rot="0" flipH="0" flipV="0">
            <a:off x="3745079" y="810335"/>
            <a:ext cx="238731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Пример</a:t>
            </a:r>
            <a:r>
              <a:rPr/>
              <a:t> </a:t>
            </a:r>
            <a:r>
              <a:rPr lang="ru-RU"/>
              <a:t>ближе к нам</a:t>
            </a:r>
            <a:endParaRPr/>
          </a:p>
        </p:txBody>
      </p:sp>
      <p:pic>
        <p:nvPicPr>
          <p:cNvPr id="1719435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2164" y="3355073"/>
            <a:ext cx="11382374" cy="3295649"/>
          </a:xfrm>
          <a:prstGeom prst="rect">
            <a:avLst/>
          </a:prstGeom>
        </p:spPr>
      </p:pic>
      <p:sp>
        <p:nvSpPr>
          <p:cNvPr id="14379304" name=""/>
          <p:cNvSpPr txBox="1"/>
          <p:nvPr/>
        </p:nvSpPr>
        <p:spPr bwMode="auto">
          <a:xfrm rot="0" flipH="0" flipV="0">
            <a:off x="228917" y="2609754"/>
            <a:ext cx="1078351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Не обращаем внимание на квадратные скобки у </a:t>
            </a:r>
            <a:r>
              <a:rPr lang="ru-RU"/>
              <a:t>интерфейса - это дженерики, мы не о них говорим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726443" name=""/>
          <p:cNvSpPr txBox="1"/>
          <p:nvPr/>
        </p:nvSpPr>
        <p:spPr bwMode="auto">
          <a:xfrm rot="0" flipH="0" flipV="0">
            <a:off x="328431" y="230968"/>
            <a:ext cx="509144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b="0" i="1"/>
              <a:t>. </a:t>
            </a:r>
            <a:r>
              <a:rPr lang="ru-RU" b="0" i="1"/>
              <a:t>Соглашения </a:t>
            </a:r>
            <a:r>
              <a:rPr lang="en-US" b="0" i="1"/>
              <a:t>(styleguide)</a:t>
            </a:r>
            <a:endParaRPr b="0" i="1"/>
          </a:p>
        </p:txBody>
      </p:sp>
      <p:cxnSp>
        <p:nvCxnSpPr>
          <p:cNvPr id="120606491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5687168" name=""/>
          <p:cNvSpPr txBox="1"/>
          <p:nvPr/>
        </p:nvSpPr>
        <p:spPr bwMode="auto">
          <a:xfrm rot="0" flipH="0" flipV="0">
            <a:off x="427946" y="2304909"/>
            <a:ext cx="11553816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2. Используем пропогирование ошибок</a:t>
            </a:r>
            <a:endParaRPr lang="ru-RU" b="1"/>
          </a:p>
          <a:p>
            <a:pPr>
              <a:defRPr/>
            </a:pPr>
            <a:r>
              <a:rPr lang="ru-RU" b="0"/>
              <a:t>Если ошибка возникла в репозитории, то выбрасываем ее в сервис. В сервисе обрабатываем эту ошибку,</a:t>
            </a:r>
            <a:endParaRPr lang="ru-RU" b="0"/>
          </a:p>
          <a:p>
            <a:pPr>
              <a:defRPr/>
            </a:pPr>
            <a:r>
              <a:rPr lang="ru-RU" b="0"/>
              <a:t>если она влияет на результат работы сервиса, то создаем и пробрасываем в контроллер новую ошибку.</a:t>
            </a:r>
            <a:endParaRPr lang="ru-RU" b="0"/>
          </a:p>
          <a:p>
            <a:pPr>
              <a:defRPr/>
            </a:pPr>
            <a:r>
              <a:rPr lang="ru-RU" b="0"/>
              <a:t>В контроллере, если ошибка достаточно важная и/или редкая</a:t>
            </a:r>
            <a:r>
              <a:rPr lang="ru-RU" b="0"/>
              <a:t>, то логируем (</a:t>
            </a:r>
            <a:r>
              <a:rPr lang="en-US" b="0"/>
              <a:t>slog.Warn </a:t>
            </a:r>
            <a:r>
              <a:rPr lang="ru-RU" b="0"/>
              <a:t>или </a:t>
            </a:r>
            <a:r>
              <a:rPr lang="en-US" b="0"/>
              <a:t>slog.Error)</a:t>
            </a:r>
            <a:r>
              <a:rPr lang="ru-RU" b="0"/>
              <a:t> и</a:t>
            </a:r>
            <a:endParaRPr lang="ru-RU" b="0"/>
          </a:p>
          <a:p>
            <a:pPr>
              <a:defRPr/>
            </a:pPr>
            <a:r>
              <a:rPr lang="ru-RU" b="0"/>
              <a:t>возвращаем ошибочный респонс СО СТАТУСОМ!</a:t>
            </a:r>
            <a:endParaRPr lang="ru-RU" b="0"/>
          </a:p>
        </p:txBody>
      </p:sp>
      <p:sp>
        <p:nvSpPr>
          <p:cNvPr id="423377118" name=""/>
          <p:cNvSpPr txBox="1"/>
          <p:nvPr/>
        </p:nvSpPr>
        <p:spPr bwMode="auto">
          <a:xfrm rot="0" flipH="0" flipV="0">
            <a:off x="427946" y="3853607"/>
            <a:ext cx="10137900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3. Правильные ошибки</a:t>
            </a:r>
            <a:endParaRPr lang="ru-RU" b="1"/>
          </a:p>
          <a:p>
            <a:pPr>
              <a:defRPr/>
            </a:pPr>
            <a:r>
              <a:rPr lang="ru-RU" b="0"/>
              <a:t>Все ошибки создаем «на месте поимки» с помощью </a:t>
            </a:r>
            <a:r>
              <a:rPr lang="en-US" b="0"/>
              <a:t>errors.New</a:t>
            </a:r>
            <a:r>
              <a:rPr lang="ru-RU" b="0"/>
              <a:t> или </a:t>
            </a:r>
            <a:r>
              <a:rPr lang="en-US" b="0"/>
              <a:t>fmt.Errorf</a:t>
            </a:r>
            <a:r>
              <a:rPr lang="ru-RU" b="0"/>
              <a:t>.</a:t>
            </a:r>
            <a:endParaRPr lang="ru-RU" b="0"/>
          </a:p>
          <a:p>
            <a:pPr>
              <a:defRPr/>
            </a:pPr>
            <a:r>
              <a:rPr lang="ru-RU" b="0"/>
              <a:t>Если ошибка встречается много раз (пр: </a:t>
            </a:r>
            <a:r>
              <a:rPr lang="en-US" b="0"/>
              <a:t>NotFoundError</a:t>
            </a:r>
            <a:r>
              <a:rPr lang="ru-RU" b="0"/>
              <a:t> для пользователя, события и т.п.), то</a:t>
            </a:r>
            <a:endParaRPr lang="ru-RU" b="0"/>
          </a:p>
          <a:p>
            <a:pPr>
              <a:defRPr/>
            </a:pPr>
            <a:r>
              <a:rPr lang="ru-RU" b="0"/>
              <a:t>выносим в отдельный модуль и создаем кастомную ошибку</a:t>
            </a:r>
            <a:endParaRPr lang="ru-RU" b="0"/>
          </a:p>
        </p:txBody>
      </p:sp>
      <p:sp>
        <p:nvSpPr>
          <p:cNvPr id="1302744161" name=""/>
          <p:cNvSpPr txBox="1"/>
          <p:nvPr/>
        </p:nvSpPr>
        <p:spPr bwMode="auto">
          <a:xfrm rot="0" flipH="0" flipV="0">
            <a:off x="427946" y="5213284"/>
            <a:ext cx="10901826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4. Логическая группировка кода</a:t>
            </a:r>
            <a:endParaRPr lang="ru-RU" b="1"/>
          </a:p>
          <a:p>
            <a:pPr>
              <a:defRPr/>
            </a:pPr>
            <a:r>
              <a:rPr lang="ru-RU" b="0"/>
              <a:t>Не писать всю логику для событий, пользователей, создания календаря и обработки строк к одном</a:t>
            </a:r>
            <a:endParaRPr lang="ru-RU" b="0"/>
          </a:p>
          <a:p>
            <a:pPr>
              <a:defRPr/>
            </a:pPr>
            <a:r>
              <a:rPr lang="ru-RU" b="0"/>
              <a:t>файле - лучше разбить на несколько. Для фичей используется вышеупомянутая структура. </a:t>
            </a:r>
            <a:endParaRPr lang="ru-RU" b="0"/>
          </a:p>
          <a:p>
            <a:pPr>
              <a:defRPr/>
            </a:pPr>
            <a:r>
              <a:rPr lang="ru-RU" b="0"/>
              <a:t>Если</a:t>
            </a:r>
            <a:r>
              <a:rPr lang="ru-RU" b="0"/>
              <a:t> утилита может использоватся во многих частях приложения, то выносим в отдельный модуль.</a:t>
            </a:r>
            <a:endParaRPr lang="ru-RU" b="0"/>
          </a:p>
          <a:p>
            <a:pPr>
              <a:defRPr/>
            </a:pPr>
            <a:r>
              <a:rPr lang="ru-RU" b="0"/>
              <a:t>Иначе пишем в файле, где эта утилита нужна, делая функцию приватной</a:t>
            </a:r>
            <a:endParaRPr lang="ru-RU" b="0"/>
          </a:p>
        </p:txBody>
      </p:sp>
      <p:sp>
        <p:nvSpPr>
          <p:cNvPr id="1734043610" name=""/>
          <p:cNvSpPr txBox="1"/>
          <p:nvPr/>
        </p:nvSpPr>
        <p:spPr bwMode="auto">
          <a:xfrm rot="0" flipH="0" flipV="0">
            <a:off x="427946" y="1049050"/>
            <a:ext cx="11144046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r>
              <a:rPr lang="ru-RU" b="1"/>
              <a:t>Разделение властей</a:t>
            </a:r>
            <a:endParaRPr lang="ru-RU" b="1"/>
          </a:p>
          <a:p>
            <a:pPr>
              <a:defRPr/>
            </a:pPr>
            <a:r>
              <a:rPr lang="ru-RU" b="0"/>
              <a:t>Если в модуле, который писал другой человек, необходимо внести изменения, то лучше попросить об</a:t>
            </a:r>
            <a:endParaRPr lang="ru-RU" b="0"/>
          </a:p>
          <a:p>
            <a:pPr>
              <a:defRPr/>
            </a:pPr>
            <a:r>
              <a:rPr lang="ru-RU" b="0"/>
              <a:t>этом самого разработчика модуля</a:t>
            </a:r>
            <a:endParaRPr lang="ru-RU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045983" name=""/>
          <p:cNvSpPr txBox="1"/>
          <p:nvPr/>
        </p:nvSpPr>
        <p:spPr bwMode="auto">
          <a:xfrm rot="0" flipH="0" flipV="0">
            <a:off x="328431" y="230968"/>
            <a:ext cx="509144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b="0" i="1"/>
              <a:t>. </a:t>
            </a:r>
            <a:r>
              <a:rPr lang="ru-RU" b="0" i="1"/>
              <a:t>Соглашения </a:t>
            </a:r>
            <a:r>
              <a:rPr lang="en-US" b="0" i="1"/>
              <a:t>(styleguide)</a:t>
            </a:r>
            <a:endParaRPr b="0" i="1"/>
          </a:p>
        </p:txBody>
      </p:sp>
      <p:cxnSp>
        <p:nvCxnSpPr>
          <p:cNvPr id="83780869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2776070" name=""/>
          <p:cNvSpPr txBox="1"/>
          <p:nvPr/>
        </p:nvSpPr>
        <p:spPr bwMode="auto">
          <a:xfrm rot="0" flipH="0" flipV="0">
            <a:off x="427947" y="702463"/>
            <a:ext cx="11444412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5. Инкапсулируем код</a:t>
            </a:r>
            <a:endParaRPr lang="ru-RU" b="1"/>
          </a:p>
          <a:p>
            <a:pPr>
              <a:defRPr/>
            </a:pPr>
            <a:r>
              <a:rPr lang="ru-RU" b="0"/>
              <a:t>Если ваша функция нужна только в данном файле или данном пакете (</a:t>
            </a:r>
            <a:r>
              <a:rPr lang="en-US" b="0"/>
              <a:t>pakage)</a:t>
            </a:r>
            <a:r>
              <a:rPr lang="ru-RU" b="0"/>
              <a:t>, то делаем ее приватной,</a:t>
            </a:r>
            <a:endParaRPr lang="ru-RU" b="0"/>
          </a:p>
          <a:p>
            <a:pPr>
              <a:defRPr/>
            </a:pPr>
            <a:r>
              <a:rPr lang="ru-RU" b="0"/>
              <a:t>чтобы другие модули не имели к ней доступ (а зачем она им, вдруг напакостят?)</a:t>
            </a:r>
            <a:endParaRPr lang="ru-RU" b="0"/>
          </a:p>
        </p:txBody>
      </p:sp>
      <p:sp>
        <p:nvSpPr>
          <p:cNvPr id="132988753" name=""/>
          <p:cNvSpPr txBox="1"/>
          <p:nvPr/>
        </p:nvSpPr>
        <p:spPr bwMode="auto">
          <a:xfrm rot="0" flipH="0" flipV="0">
            <a:off x="427946" y="1859990"/>
            <a:ext cx="11637974" cy="2012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6. Нормальные имена</a:t>
            </a:r>
            <a:endParaRPr lang="ru-RU" b="1"/>
          </a:p>
          <a:p>
            <a:pPr>
              <a:defRPr/>
            </a:pPr>
            <a:r>
              <a:rPr lang="ru-RU" b="0"/>
              <a:t>Если из названия функции или переменной не понятно, что она делает или за что отвечает, то пишем</a:t>
            </a:r>
            <a:endParaRPr lang="ru-RU" b="0"/>
          </a:p>
          <a:p>
            <a:pPr>
              <a:defRPr/>
            </a:pPr>
            <a:r>
              <a:rPr lang="ru-RU" b="0"/>
              <a:t>небольшую документацию</a:t>
            </a:r>
            <a:r>
              <a:rPr lang="ru-RU" b="0"/>
              <a:t>. Не боимся давать </a:t>
            </a:r>
            <a:r>
              <a:rPr lang="ru-RU" b="0"/>
              <a:t>длинные имена, но если прям совсем длинно получается,</a:t>
            </a:r>
            <a:endParaRPr lang="ru-RU" b="0"/>
          </a:p>
          <a:p>
            <a:pPr>
              <a:defRPr/>
            </a:pPr>
            <a:r>
              <a:rPr lang="ru-RU" b="0"/>
              <a:t>то выделяем основную суть, а остальное пишем в документации.</a:t>
            </a:r>
            <a:endParaRPr lang="ru-RU" b="0"/>
          </a:p>
          <a:p>
            <a:pPr>
              <a:defRPr/>
            </a:pPr>
            <a:r>
              <a:rPr lang="ru-RU" b="0"/>
              <a:t>Пример: </a:t>
            </a:r>
            <a:r>
              <a:rPr lang="en-US" b="0"/>
              <a:t>func GetTime(s time.Time, e time.Time)</a:t>
            </a:r>
            <a:r>
              <a:rPr lang="ru-RU" b="0"/>
              <a:t> </a:t>
            </a:r>
            <a:r>
              <a:rPr lang="en-US" b="0"/>
              <a:t>time.Time </a:t>
            </a:r>
            <a:r>
              <a:rPr lang="ru-RU" b="0"/>
              <a:t>- не особо понятно, что за время мы </a:t>
            </a:r>
            <a:r>
              <a:rPr lang="ru-RU" b="0"/>
              <a:t>должны </a:t>
            </a:r>
            <a:endParaRPr lang="ru-RU" b="0"/>
          </a:p>
          <a:p>
            <a:pPr>
              <a:defRPr/>
            </a:pPr>
            <a:r>
              <a:rPr lang="ru-RU" b="0"/>
              <a:t>передать и </a:t>
            </a:r>
            <a:r>
              <a:rPr lang="ru-RU" b="0"/>
              <a:t>какое получим</a:t>
            </a:r>
            <a:r>
              <a:rPr lang="ru-RU" b="0"/>
              <a:t>, поэтому, либо переименовываем (</a:t>
            </a:r>
            <a:r>
              <a:rPr lang="en-US" b="0"/>
              <a:t>func GetEvent</a:t>
            </a:r>
            <a:r>
              <a:rPr lang="en-US" b="0"/>
              <a:t>Duration(start ..., end ...) ...</a:t>
            </a:r>
            <a:r>
              <a:rPr lang="ru-RU" b="0"/>
              <a:t>, либо</a:t>
            </a:r>
            <a:endParaRPr lang="ru-RU" b="0"/>
          </a:p>
          <a:p>
            <a:pPr>
              <a:defRPr/>
            </a:pPr>
            <a:r>
              <a:rPr lang="ru-RU" b="0"/>
              <a:t>небольшую документацию </a:t>
            </a:r>
            <a:r>
              <a:rPr lang="ru-RU" b="0" i="1"/>
              <a:t>(но в этом примере прям вообще кринж, лучше нормально называть)</a:t>
            </a:r>
            <a:endParaRPr b="0" i="1"/>
          </a:p>
        </p:txBody>
      </p:sp>
      <p:sp>
        <p:nvSpPr>
          <p:cNvPr id="866222406" name=""/>
          <p:cNvSpPr txBox="1"/>
          <p:nvPr/>
        </p:nvSpPr>
        <p:spPr bwMode="auto">
          <a:xfrm rot="0" flipH="0" flipV="0">
            <a:off x="427946" y="4257752"/>
            <a:ext cx="11298193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b="1"/>
              <a:t>7.</a:t>
            </a:r>
            <a:r>
              <a:rPr lang="ru-RU" b="1"/>
              <a:t> Документация для будущих поколений (или нынешних)</a:t>
            </a:r>
            <a:endParaRPr lang="ru-RU" b="1"/>
          </a:p>
          <a:p>
            <a:pPr>
              <a:defRPr/>
            </a:pPr>
            <a:r>
              <a:rPr lang="ru-RU" b="0"/>
              <a:t>Если функция сложна для понимания, то пишем небольшие пояснения к неясным блокам.</a:t>
            </a:r>
            <a:endParaRPr lang="ru-RU" b="0"/>
          </a:p>
          <a:p>
            <a:pPr>
              <a:defRPr/>
            </a:pPr>
            <a:r>
              <a:rPr lang="ru-RU" b="0"/>
              <a:t>Автору кода может быть все понятно, но если я приду, прочитаю функцию и не пойму, что она делает и</a:t>
            </a:r>
            <a:endParaRPr lang="ru-RU" b="0"/>
          </a:p>
          <a:p>
            <a:pPr>
              <a:defRPr/>
            </a:pPr>
            <a:r>
              <a:rPr lang="ru-RU" b="0"/>
              <a:t>как работает, то капец</a:t>
            </a:r>
            <a:r>
              <a:rPr lang="ru-RU" b="0"/>
              <a:t>.</a:t>
            </a:r>
            <a:endParaRPr lang="ru-RU" b="0"/>
          </a:p>
          <a:p>
            <a:pPr>
              <a:defRPr/>
            </a:pPr>
            <a:r>
              <a:rPr lang="ru-RU" b="0"/>
              <a:t>Да и автор через неделю может забыть уже алгоритм, по которому писал функцию</a:t>
            </a:r>
            <a:endParaRPr b="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200874" name=""/>
          <p:cNvSpPr txBox="1"/>
          <p:nvPr/>
        </p:nvSpPr>
        <p:spPr bwMode="auto">
          <a:xfrm rot="0" flipH="0" flipV="0">
            <a:off x="328431" y="230968"/>
            <a:ext cx="509144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b="0" i="1"/>
              <a:t>. </a:t>
            </a:r>
            <a:r>
              <a:rPr lang="ru-RU" b="0" i="1"/>
              <a:t>Соглашения </a:t>
            </a:r>
            <a:r>
              <a:rPr lang="en-US" b="0" i="1"/>
              <a:t>(styleguide)</a:t>
            </a:r>
            <a:endParaRPr b="0" i="1"/>
          </a:p>
        </p:txBody>
      </p:sp>
      <p:cxnSp>
        <p:nvCxnSpPr>
          <p:cNvPr id="1900774486" name=""/>
          <p:cNvCxnSpPr/>
          <p:nvPr/>
        </p:nvCxnSpPr>
        <p:spPr bwMode="auto">
          <a:xfrm flipH="0" flipV="0">
            <a:off x="-69625" y="597087"/>
            <a:ext cx="1231141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3519569" name=""/>
          <p:cNvSpPr txBox="1"/>
          <p:nvPr/>
        </p:nvSpPr>
        <p:spPr bwMode="auto">
          <a:xfrm rot="0" flipH="0" flipV="0">
            <a:off x="427945" y="702461"/>
            <a:ext cx="12618771" cy="47552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8. Логирование</a:t>
            </a:r>
            <a:r>
              <a:rPr lang="ru-RU" b="1"/>
              <a:t> для анализа ошибок</a:t>
            </a:r>
            <a:endParaRPr lang="ru-RU" b="1"/>
          </a:p>
          <a:p>
            <a:pPr>
              <a:defRPr/>
            </a:pPr>
            <a:r>
              <a:rPr lang="ru-RU" b="0"/>
              <a:t>Если возникает серьезная ситуация(пр1) или редкая ошибка(пр2), то используем </a:t>
            </a:r>
            <a:r>
              <a:rPr lang="en-US" b="0"/>
              <a:t>slog.{Info, Warn, Error}</a:t>
            </a:r>
            <a:r>
              <a:rPr lang="ru-RU" b="0"/>
              <a:t>. </a:t>
            </a:r>
            <a:endParaRPr lang="ru-RU" b="0"/>
          </a:p>
          <a:p>
            <a:pPr>
              <a:defRPr/>
            </a:pPr>
            <a:r>
              <a:rPr lang="ru-RU" b="0"/>
              <a:t>А так же, если </a:t>
            </a:r>
            <a:r>
              <a:rPr lang="ru-RU" b="0"/>
              <a:t>происходит какое то важное и опасное действие, то тоже логируем, даже если нет </a:t>
            </a:r>
            <a:endParaRPr lang="ru-RU" b="0"/>
          </a:p>
          <a:p>
            <a:pPr>
              <a:defRPr/>
            </a:pPr>
            <a:r>
              <a:rPr lang="ru-RU" b="0"/>
              <a:t>ошибки</a:t>
            </a:r>
            <a:r>
              <a:rPr lang="ru-RU"/>
              <a:t> (пр3)</a:t>
            </a:r>
            <a:endParaRPr lang="ru-RU" b="0"/>
          </a:p>
          <a:p>
            <a:pPr>
              <a:defRPr/>
            </a:pPr>
            <a:r>
              <a:rPr lang="ru-RU" b="0"/>
              <a:t>В эти функции </a:t>
            </a:r>
            <a:r>
              <a:rPr lang="ru-RU" b="0"/>
              <a:t>можно передавать дополнительные параметры - можно не бояться передать туда имя пользователя</a:t>
            </a:r>
            <a:endParaRPr lang="ru-RU" b="0"/>
          </a:p>
          <a:p>
            <a:pPr>
              <a:defRPr/>
            </a:pPr>
            <a:r>
              <a:rPr lang="ru-RU" b="0"/>
              <a:t>или его айди.</a:t>
            </a:r>
            <a:endParaRPr lang="ru-RU" b="0"/>
          </a:p>
          <a:p>
            <a:pPr>
              <a:defRPr/>
            </a:pPr>
            <a:endParaRPr lang="ru-RU" b="0"/>
          </a:p>
          <a:p>
            <a:pPr>
              <a:defRPr/>
            </a:pPr>
            <a:r>
              <a:rPr lang="ru-RU" b="0"/>
              <a:t>Пример1: ... Пользователь с </a:t>
            </a:r>
            <a:r>
              <a:rPr lang="en-US" b="0"/>
              <a:t>id = 123</a:t>
            </a:r>
            <a:r>
              <a:rPr lang="ru-RU" b="0"/>
              <a:t> пытался зайти в админ-панель без прав администратора. Неверный</a:t>
            </a:r>
            <a:endParaRPr lang="ru-RU" b="0"/>
          </a:p>
          <a:p>
            <a:pPr>
              <a:defRPr/>
            </a:pPr>
            <a:r>
              <a:rPr lang="ru-RU" b="0"/>
              <a:t>пароль...</a:t>
            </a:r>
            <a:endParaRPr lang="ru-RU" b="0"/>
          </a:p>
          <a:p>
            <a:pPr>
              <a:defRPr/>
            </a:pPr>
            <a:r>
              <a:rPr lang="ru-RU" b="0"/>
              <a:t>Вот с такими данными будет легде понять что пытался сделать пользователь и кого надо банить</a:t>
            </a:r>
            <a:r>
              <a:rPr lang="ru-RU" b="0"/>
              <a:t>. Тут мы</a:t>
            </a:r>
            <a:endParaRPr lang="ru-RU" b="0"/>
          </a:p>
          <a:p>
            <a:pPr>
              <a:defRPr/>
            </a:pPr>
            <a:r>
              <a:rPr lang="ru-RU" b="0"/>
              <a:t>используем s</a:t>
            </a:r>
            <a:r>
              <a:rPr lang="en-US" b="0"/>
              <a:t>log.Warn</a:t>
            </a:r>
            <a:endParaRPr lang="ru-RU" b="0"/>
          </a:p>
          <a:p>
            <a:pPr>
              <a:defRPr/>
            </a:pPr>
            <a:endParaRPr lang="ru-RU" b="0"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Пример2: ... Пользователь с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 = 123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зашел в админ-панель без прав администратора. Но мы его кикнули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Что? </a:t>
            </a:r>
            <a:r>
              <a:rPr lang="ru-RU" sz="1800" b="0"/>
              <a:t>Ну вот тут </a:t>
            </a:r>
            <a:r>
              <a:rPr lang="en-US" sz="1800" b="0"/>
              <a:t>slog.Error</a:t>
            </a:r>
            <a:endParaRPr sz="1800" b="0"/>
          </a:p>
          <a:p>
            <a:pPr>
              <a:defRPr/>
            </a:pPr>
            <a:endParaRPr lang="ru-RU" sz="1800" b="0"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Пример3: ... Администратор с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id = 123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45 зашел в админ-панель...</a:t>
            </a:r>
            <a:endParaRPr lang="ru-RU" sz="1800" b="0"/>
          </a:p>
          <a:p>
            <a:pPr>
              <a:defRPr/>
            </a:pPr>
            <a:r>
              <a:rPr lang="ru-RU" sz="1800" b="0"/>
              <a:t>Тут ошибки нет, но лучше логировать</a:t>
            </a:r>
            <a:r>
              <a:rPr lang="en-US" sz="1800" b="0"/>
              <a:t> </a:t>
            </a:r>
            <a:r>
              <a:rPr lang="en-US" sz="1800" b="0"/>
              <a:t>slog.Info</a:t>
            </a:r>
            <a:r>
              <a:rPr lang="ru-RU" sz="1800" b="0"/>
              <a:t>, так как достаточно важное действие</a:t>
            </a:r>
            <a:endParaRPr sz="18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327766" name=""/>
          <p:cNvSpPr txBox="1"/>
          <p:nvPr/>
        </p:nvSpPr>
        <p:spPr bwMode="auto">
          <a:xfrm rot="0" flipH="0" flipV="0">
            <a:off x="328430" y="230967"/>
            <a:ext cx="5091439" cy="36611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Структур</a:t>
            </a:r>
            <a:r>
              <a:rPr lang="ru-RU" b="0" i="1"/>
              <a:t>а бэкенда</a:t>
            </a:r>
            <a:r>
              <a:rPr b="0" i="1"/>
              <a:t>. </a:t>
            </a:r>
            <a:r>
              <a:rPr lang="ru-RU" b="0" i="1"/>
              <a:t>Соглашения </a:t>
            </a:r>
            <a:r>
              <a:rPr lang="en-US" b="0" i="1"/>
              <a:t>(styleguide)</a:t>
            </a:r>
            <a:endParaRPr b="0" i="1"/>
          </a:p>
        </p:txBody>
      </p:sp>
      <p:cxnSp>
        <p:nvCxnSpPr>
          <p:cNvPr id="1771455583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543995" name=""/>
          <p:cNvSpPr txBox="1"/>
          <p:nvPr/>
        </p:nvSpPr>
        <p:spPr bwMode="auto">
          <a:xfrm rot="0" flipH="0" flipV="0">
            <a:off x="427945" y="702461"/>
            <a:ext cx="10967687" cy="22863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1"/>
              <a:t>9. Используем двойную валидацию</a:t>
            </a:r>
            <a:endParaRPr lang="ru-RU" sz="1800" b="1"/>
          </a:p>
          <a:p>
            <a:pPr>
              <a:defRPr/>
            </a:pPr>
            <a:r>
              <a:rPr lang="ru-RU" sz="1800" b="0"/>
              <a:t>Когда с фронта</a:t>
            </a:r>
            <a:r>
              <a:rPr lang="ru-RU" sz="1800" b="0"/>
              <a:t> поступает какой либо объект в запросе (структура), то он, </a:t>
            </a:r>
            <a:r>
              <a:rPr lang="ru-RU" sz="1800" b="0" i="1"/>
              <a:t>скорее всего</a:t>
            </a:r>
            <a:r>
              <a:rPr lang="ru-RU" sz="1800" b="0"/>
              <a:t>, будет</a:t>
            </a:r>
            <a:endParaRPr lang="ru-RU" sz="1800" b="0"/>
          </a:p>
          <a:p>
            <a:pPr>
              <a:defRPr/>
            </a:pPr>
            <a:r>
              <a:rPr lang="ru-RU" sz="1800" b="0"/>
              <a:t>отвалидирован (проверен на соответствие ограничениям и стандартам), но лучше провалидировать</a:t>
            </a:r>
            <a:endParaRPr lang="ru-RU" sz="1800" b="0"/>
          </a:p>
          <a:p>
            <a:pPr>
              <a:defRPr/>
            </a:pPr>
            <a:r>
              <a:rPr lang="ru-RU" sz="1800" b="0"/>
              <a:t>и на бэкенде во второй раз. Для этого можно использовать пакет </a:t>
            </a:r>
            <a:r>
              <a:rPr lang="en-US" sz="1800" b="0"/>
              <a:t>validator (</a:t>
            </a:r>
            <a:r>
              <a:rPr lang="ru-RU" sz="1800" b="0" u="sng">
                <a:hlinkClick r:id="rId3" tooltip=""/>
              </a:rPr>
              <a:t>ссылка</a:t>
            </a:r>
            <a:r>
              <a:rPr lang="ru-RU" sz="1800" b="0"/>
              <a:t>)</a:t>
            </a:r>
            <a:r>
              <a:rPr lang="ru-RU" sz="1800" b="0"/>
              <a:t> - он настроен в </a:t>
            </a:r>
            <a:endParaRPr lang="ru-RU" sz="1800" b="0"/>
          </a:p>
          <a:p>
            <a:pPr>
              <a:defRPr/>
            </a:pPr>
            <a:r>
              <a:rPr lang="en-US" sz="1800" b="0"/>
              <a:t>config/validation_config.go</a:t>
            </a:r>
            <a:endParaRPr lang="en-US" sz="1800" b="0"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Почему? Безопасность: запрос может прийти не только с фронта, но и из curl, скрипта, атаки.</a:t>
            </a:r>
            <a:endParaRPr lang="ru-RU" sz="1800" b="0"/>
          </a:p>
          <a:p>
            <a:pPr>
              <a:defRPr/>
            </a:pPr>
            <a:r>
              <a:rPr lang="ru-RU" sz="1800" b="0"/>
              <a:t>Пример</a:t>
            </a:r>
            <a:r>
              <a:rPr lang="en-US" sz="1800" b="0"/>
              <a:t> </a:t>
            </a:r>
            <a:r>
              <a:rPr lang="ru-RU" sz="1800" b="0"/>
              <a:t>валидации</a:t>
            </a:r>
            <a:r>
              <a:rPr lang="ru-RU" sz="1800" b="0"/>
              <a:t>:</a:t>
            </a:r>
            <a:endParaRPr lang="ru-RU" sz="1800" b="0"/>
          </a:p>
          <a:p>
            <a:pPr>
              <a:defRPr/>
            </a:pPr>
            <a:endParaRPr sz="1800" b="0"/>
          </a:p>
        </p:txBody>
      </p:sp>
      <p:pic>
        <p:nvPicPr>
          <p:cNvPr id="38832571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9028" y="2747142"/>
            <a:ext cx="8181974" cy="203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463178" name=""/>
          <p:cNvSpPr txBox="1"/>
          <p:nvPr/>
        </p:nvSpPr>
        <p:spPr bwMode="auto">
          <a:xfrm rot="0" flipH="0" flipV="0">
            <a:off x="328428" y="230967"/>
            <a:ext cx="1454395" cy="36611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Справочник</a:t>
            </a:r>
            <a:endParaRPr b="0" i="1"/>
          </a:p>
        </p:txBody>
      </p:sp>
      <p:cxnSp>
        <p:nvCxnSpPr>
          <p:cNvPr id="589591833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312008" name=""/>
          <p:cNvSpPr txBox="1"/>
          <p:nvPr/>
        </p:nvSpPr>
        <p:spPr bwMode="auto">
          <a:xfrm rot="0" flipH="0" flipV="0">
            <a:off x="499027" y="938281"/>
            <a:ext cx="10386816" cy="36611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 дальнейших презентациях и иных коммуникациях будут использоватся следующие термины:</a:t>
            </a:r>
            <a:endParaRPr/>
          </a:p>
        </p:txBody>
      </p:sp>
      <p:sp>
        <p:nvSpPr>
          <p:cNvPr id="1367781613" name=""/>
          <p:cNvSpPr txBox="1"/>
          <p:nvPr/>
        </p:nvSpPr>
        <p:spPr bwMode="auto">
          <a:xfrm rot="0" flipH="0" flipV="0">
            <a:off x="499027" y="1606455"/>
            <a:ext cx="11162246" cy="50295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Интерфейс </a:t>
            </a:r>
            <a:r>
              <a:rPr lang="ru-RU"/>
              <a:t>- интерфейс, описание функционала без реализации</a:t>
            </a:r>
            <a:endParaRPr lang="ru-RU"/>
          </a:p>
          <a:p>
            <a:pPr>
              <a:defRPr/>
            </a:pPr>
            <a:r>
              <a:rPr lang="ru-RU" b="1"/>
              <a:t>Имплементация </a:t>
            </a:r>
            <a:r>
              <a:rPr lang="ru-RU"/>
              <a:t>- реализация функционала, описанного в интерфейсе</a:t>
            </a:r>
            <a:endParaRPr lang="ru-RU"/>
          </a:p>
          <a:p>
            <a:pPr>
              <a:defRPr/>
            </a:pPr>
            <a:r>
              <a:rPr lang="ru-RU" b="1"/>
              <a:t>Инстанс </a:t>
            </a:r>
            <a:r>
              <a:rPr lang="ru-RU"/>
              <a:t>- объект имплементации</a:t>
            </a:r>
            <a:endParaRPr lang="ru-RU"/>
          </a:p>
          <a:p>
            <a:pPr>
              <a:defRPr/>
            </a:pPr>
            <a:r>
              <a:rPr lang="ru-RU" b="1"/>
              <a:t>Модель </a:t>
            </a:r>
            <a:r>
              <a:rPr lang="ru-RU"/>
              <a:t>- объект базы данных</a:t>
            </a:r>
            <a:endParaRPr lang="ru-RU"/>
          </a:p>
          <a:p>
            <a:pPr>
              <a:defRPr/>
            </a:pPr>
            <a:r>
              <a:rPr lang="ru-RU" b="1"/>
              <a:t>Миграция </a:t>
            </a:r>
            <a:r>
              <a:rPr lang="ru-RU"/>
              <a:t>- изменение базы данных (добавление строк, изменение колонок и т.п.)</a:t>
            </a:r>
            <a:endParaRPr lang="ru-RU"/>
          </a:p>
          <a:p>
            <a:pPr>
              <a:defRPr/>
            </a:pPr>
            <a:r>
              <a:rPr lang="ru-RU" b="1"/>
              <a:t>ДТО(дэтэошка)</a:t>
            </a:r>
            <a:r>
              <a:rPr lang="ru-RU"/>
              <a:t> - объект для передачи данных в контроллеры (и некоторые функции)</a:t>
            </a:r>
            <a:endParaRPr lang="ru-RU"/>
          </a:p>
          <a:p>
            <a:pPr>
              <a:defRPr/>
            </a:pPr>
            <a:r>
              <a:rPr lang="ru-RU" b="1"/>
              <a:t>Эндпоинт </a:t>
            </a:r>
            <a:r>
              <a:rPr lang="ru-RU"/>
              <a:t>- конечный адрес, на который отправляется запрос (пр: </a:t>
            </a:r>
            <a:r>
              <a:rPr lang="en-US"/>
              <a:t>/api/users/create</a:t>
            </a:r>
            <a:r>
              <a:rPr lang="ru-RU"/>
              <a:t>)</a:t>
            </a:r>
            <a:endParaRPr lang="ru-RU"/>
          </a:p>
          <a:p>
            <a:pPr>
              <a:defRPr/>
            </a:pPr>
            <a:r>
              <a:rPr lang="ru-RU" b="1"/>
              <a:t>Группа </a:t>
            </a:r>
            <a:r>
              <a:rPr lang="ru-RU"/>
              <a:t>- совокупность эндпоинтов</a:t>
            </a:r>
            <a:endParaRPr lang="ru-RU"/>
          </a:p>
          <a:p>
            <a:pPr>
              <a:defRPr/>
            </a:pPr>
            <a:r>
              <a:rPr lang="ru-RU" b="1"/>
              <a:t>Хэндлер </a:t>
            </a:r>
            <a:r>
              <a:rPr lang="ru-RU"/>
              <a:t>- функция, которая обрабатывает запрос на определенный эндпоинт</a:t>
            </a:r>
            <a:endParaRPr lang="ru-RU"/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Контроллер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совокупность хэндлеров, объединенных одной группой</a:t>
            </a:r>
            <a:r>
              <a:rPr lang="ru-RU"/>
              <a:t> (пр: контроллер пользователей</a:t>
            </a:r>
            <a:endParaRPr lang="ru-RU"/>
          </a:p>
          <a:p>
            <a:pPr>
              <a:defRPr/>
            </a:pPr>
            <a:r>
              <a:rPr lang="ru-RU"/>
              <a:t>для всех </a:t>
            </a:r>
            <a:r>
              <a:rPr lang="en-US"/>
              <a:t>/api/users/**</a:t>
            </a:r>
            <a:r>
              <a:rPr lang="ru-RU"/>
              <a:t>)</a:t>
            </a:r>
            <a:r>
              <a:rPr lang="ru-RU"/>
              <a:t>. Принимает запрос, передает его в сервис, возвращает ответ</a:t>
            </a:r>
            <a:endParaRPr lang="ru-RU"/>
          </a:p>
          <a:p>
            <a:pPr>
              <a:defRPr/>
            </a:pPr>
            <a:r>
              <a:rPr lang="ru-RU" b="1"/>
              <a:t>Репозиторий(репо) </a:t>
            </a:r>
            <a:r>
              <a:rPr lang="ru-RU"/>
              <a:t>- интерфейс и его стандартная имплементация для работы с БД</a:t>
            </a:r>
            <a:r>
              <a:rPr lang="ru-RU"/>
              <a:t>. </a:t>
            </a:r>
            <a:endParaRPr lang="ru-RU"/>
          </a:p>
          <a:p>
            <a:pPr>
              <a:defRPr/>
            </a:pPr>
            <a:r>
              <a:rPr lang="ru-RU"/>
              <a:t>Он принимает только </a:t>
            </a:r>
            <a:r>
              <a:rPr lang="ru-RU"/>
              <a:t>модели и возвращает только их же</a:t>
            </a:r>
            <a:endParaRPr lang="ru-RU"/>
          </a:p>
          <a:p>
            <a:pPr>
              <a:defRPr/>
            </a:pPr>
            <a:r>
              <a:rPr lang="ru-RU" b="1"/>
              <a:t>Сервис </a:t>
            </a:r>
            <a:r>
              <a:rPr lang="ru-RU"/>
              <a:t>- интерфейс и его стандартная имплементация для связывания контроллера с репозиторием.</a:t>
            </a:r>
            <a:endParaRPr lang="ru-RU"/>
          </a:p>
          <a:p>
            <a:pPr>
              <a:defRPr/>
            </a:pPr>
            <a:r>
              <a:rPr lang="ru-RU"/>
              <a:t>Он занимается обработкой входящих данных, передает их в репозиторий и возвращает результат</a:t>
            </a:r>
            <a:endParaRPr lang="ru-RU"/>
          </a:p>
          <a:p>
            <a:pPr>
              <a:defRPr/>
            </a:pPr>
            <a:r>
              <a:rPr lang="ru-RU" b="1"/>
              <a:t>Модуль </a:t>
            </a:r>
            <a:r>
              <a:rPr lang="ru-RU"/>
              <a:t>- совокупность схожего функционала</a:t>
            </a:r>
            <a:r>
              <a:rPr lang="ru-RU"/>
              <a:t> (пр: модуль сервисов, модуль конфигурации)</a:t>
            </a:r>
            <a:endParaRPr lang="ru-RU"/>
          </a:p>
          <a:p>
            <a:pPr>
              <a:defRPr/>
            </a:pPr>
            <a:r>
              <a:rPr lang="ru-RU" b="1"/>
              <a:t>Фича </a:t>
            </a:r>
            <a:r>
              <a:rPr lang="ru-RU"/>
              <a:t>- совокупность функционала, объединенного общим смыслом</a:t>
            </a:r>
            <a:endParaRPr lang="ru-RU"/>
          </a:p>
          <a:p>
            <a:pPr>
              <a:defRPr/>
            </a:pPr>
            <a:r>
              <a:rPr lang="ru-RU"/>
              <a:t>(пр: фича пользователя - модель пользователя, репо, контроллера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956316" name=""/>
          <p:cNvSpPr txBox="1"/>
          <p:nvPr/>
        </p:nvSpPr>
        <p:spPr bwMode="auto">
          <a:xfrm rot="0" flipH="0" flipV="0">
            <a:off x="328429" y="230967"/>
            <a:ext cx="208416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0" i="1"/>
              <a:t>Полезные ссылки</a:t>
            </a:r>
            <a:endParaRPr b="0" i="1"/>
          </a:p>
        </p:txBody>
      </p:sp>
      <p:cxnSp>
        <p:nvCxnSpPr>
          <p:cNvPr id="1751052046" name=""/>
          <p:cNvCxnSpPr/>
          <p:nvPr/>
        </p:nvCxnSpPr>
        <p:spPr bwMode="auto">
          <a:xfrm flipH="0" flipV="0">
            <a:off x="-69624" y="597087"/>
            <a:ext cx="1231141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4706326" name=""/>
          <p:cNvSpPr txBox="1"/>
          <p:nvPr/>
        </p:nvSpPr>
        <p:spPr bwMode="auto">
          <a:xfrm rot="0" flipH="0" flipV="0">
            <a:off x="598544" y="726790"/>
            <a:ext cx="7184771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goose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-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Goose is a database migration tool. Both a CLI and a library.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https://github.com/pressly/goose</a:t>
            </a:r>
            <a:endParaRPr/>
          </a:p>
        </p:txBody>
      </p:sp>
      <p:sp>
        <p:nvSpPr>
          <p:cNvPr id="1067940832" name=""/>
          <p:cNvSpPr txBox="1"/>
          <p:nvPr/>
        </p:nvSpPr>
        <p:spPr bwMode="auto">
          <a:xfrm rot="0" flipH="0" flipV="0">
            <a:off x="598544" y="1367230"/>
            <a:ext cx="1096373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log/slog</a:t>
            </a:r>
            <a:r>
              <a:rPr/>
              <a:t> </a:t>
            </a:r>
            <a:r>
              <a:rPr/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Package slog provides structured logging, in which log records include a message, a severity level, and various other attributes expressed as key-value pairs. </a:t>
            </a:r>
            <a:endParaRPr/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https://pkg.go.dev/log/slog</a:t>
            </a:r>
            <a:endParaRPr/>
          </a:p>
        </p:txBody>
      </p:sp>
      <p:sp>
        <p:nvSpPr>
          <p:cNvPr id="948704373" name=""/>
          <p:cNvSpPr txBox="1"/>
          <p:nvPr/>
        </p:nvSpPr>
        <p:spPr bwMode="auto">
          <a:xfrm rot="0" flipH="0" flipV="0">
            <a:off x="598544" y="2281990"/>
            <a:ext cx="10970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pgx</a:t>
            </a:r>
            <a:r>
              <a:rPr/>
              <a:t> </a:t>
            </a:r>
            <a:r>
              <a:rPr/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pgx is a pure Go driver and toolkit for PostgreSQL.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"/>
              </a:rPr>
              <a:t>https://github.com/jackc/pgx</a:t>
            </a:r>
            <a:endParaRPr/>
          </a:p>
        </p:txBody>
      </p:sp>
      <p:sp>
        <p:nvSpPr>
          <p:cNvPr id="1469941414" name=""/>
          <p:cNvSpPr txBox="1"/>
          <p:nvPr/>
        </p:nvSpPr>
        <p:spPr bwMode="auto">
          <a:xfrm rot="0" flipH="0" flipV="0">
            <a:off x="598544" y="3008461"/>
            <a:ext cx="1096589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sqlx</a:t>
            </a:r>
            <a:r>
              <a:rPr/>
              <a:t> </a:t>
            </a:r>
            <a:r>
              <a:rPr/>
              <a:t> 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sqlx is a library which provides a set of extensions on go's standard database/sql library.</a:t>
            </a:r>
            <a:endParaRPr/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"/>
              </a:rPr>
              <a:t>https://github.com/jmoiron/sqlx</a:t>
            </a:r>
            <a:endParaRPr/>
          </a:p>
        </p:txBody>
      </p:sp>
      <p:sp>
        <p:nvSpPr>
          <p:cNvPr id="213497667" name=""/>
          <p:cNvSpPr txBox="1"/>
          <p:nvPr/>
        </p:nvSpPr>
        <p:spPr bwMode="auto">
          <a:xfrm rot="0" flipH="0" flipV="0">
            <a:off x="613049" y="3648901"/>
            <a:ext cx="1097273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docker compose </a:t>
            </a:r>
            <a:r>
              <a:rPr/>
              <a:t>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Docker Compose you use a YAML configuration file, known as the Compose file, to configure your application’s services, and then you create and start all the services from your configuration with the Compose CLI.</a:t>
            </a:r>
            <a:endParaRPr/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7" tooltip=""/>
              </a:rPr>
              <a:t>https://habr.com/ru/companies/ruvds/articles/450312/</a:t>
            </a:r>
            <a:endParaRPr/>
          </a:p>
        </p:txBody>
      </p:sp>
      <p:sp>
        <p:nvSpPr>
          <p:cNvPr id="804063627" name=""/>
          <p:cNvSpPr txBox="1"/>
          <p:nvPr/>
        </p:nvSpPr>
        <p:spPr bwMode="auto">
          <a:xfrm rot="0" flipH="0" flipV="0">
            <a:off x="613049" y="4837981"/>
            <a:ext cx="1097813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docker (Dockerfile) </a:t>
            </a:r>
            <a:r>
              <a:rPr/>
              <a:t>-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Dockerfile is a key component in containerization, enabling developers and DevOps engineers to package applications with all their dependencies into a portable, lightweight container.</a:t>
            </a:r>
            <a:endParaRPr/>
          </a:p>
          <a:p>
            <a:pPr>
              <a:defRPr/>
            </a:pP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8" tooltip=""/>
              </a:rPr>
              <a:t>https://dev.to/prodevopsguytech/writing-a-dockerfile-beginners-to-advanced-31ie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modified xsi:type="dcterms:W3CDTF">2026-02-13T12:19:35Z</dcterms:modified>
</cp:coreProperties>
</file>